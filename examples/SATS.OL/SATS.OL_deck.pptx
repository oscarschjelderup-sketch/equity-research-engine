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2606040"/>
          </a:xfrm>
          <a:prstGeom prst="rect">
            <a:avLst/>
          </a:prstGeom>
          <a:solidFill>
            <a:srgbClr val="0A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777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mbria"/>
              </a:rPr>
              <a:t>Equity Research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2984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16152" y="2487168"/>
            <a:ext cx="1024128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16152" y="26974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mbria"/>
              </a:rPr>
              <a:t>SATS – Healthy body, healthy margins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mbria"/>
              </a:rPr>
              <a:t>Equity research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5669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23.09.2026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Arial"/>
              </a:rPr>
              <a:t>Private and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9768" y="329184"/>
            <a:ext cx="5486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29768" y="411480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914400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Presenting a model-driven investment case on SATS ASA.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600200"/>
            <a:ext cx="1417320" cy="17373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8F9DA6"/>
                </a:solidFill>
                <a:latin typeface="Cambria"/>
              </a:rPr>
              <a:t>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3383280"/>
            <a:ext cx="3108960" cy="31089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1737360"/>
            <a:ext cx="3840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University: Copenhagen Business School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Year of study: 2nd year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Experience: HA Invest member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#1 The equity story of SATS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SATS ASA – Fitness &amp; well-being in Norway, Sweden, Denmark, Finland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10.5% revenue CAGR, 16.7% EBITDA margin and 1.1x net debt/EBITDA — market cap NOK 8.5bn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Company snapshot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767328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3520440" cy="178307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Sector: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Fitness &amp; well-being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Footprint: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Norway, Sweden, Denmark, Finland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Business model: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Membership subscriptions &amp; other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Scale: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Employees: 10,000 | Revenue 2025A: NOK 5,509m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Market cap: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8,469m | EV NOK 9,546m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Share price: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43.95 | 52w range 35.0–47.5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Investment highlights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88536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26096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06824" y="1975104"/>
            <a:ext cx="3575304" cy="180136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Consistent growth: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revenue compounded at 10.5% p.a. over 2022–2025, reaching NOK 5,509m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Margin profile: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pre-IFRS 16 EBITDA margin of 16.7% in 2025A (up from 2.2% in 2022A), EBIT margin 12.7%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Cash generative: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unlevered FCF of NOK 518m in 2025A, 56% of EBITDA, ROIC 18%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Balance sheet: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net debt of NOK 1,077m equals 1.1x EBITDA, a conservative leverage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Management team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47304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1484864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84464" y="2048256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5944" y="202996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Sondre Gravir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CEO</a:t>
            </a:r>
          </a:p>
        </p:txBody>
      </p:sp>
      <p:sp>
        <p:nvSpPr>
          <p:cNvPr id="22" name="Oval 21"/>
          <p:cNvSpPr/>
          <p:nvPr/>
        </p:nvSpPr>
        <p:spPr>
          <a:xfrm>
            <a:off x="8284464" y="2478024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2459736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Cecilie Elde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CFO</a:t>
            </a:r>
          </a:p>
        </p:txBody>
      </p:sp>
      <p:sp>
        <p:nvSpPr>
          <p:cNvPr id="24" name="Oval 23"/>
          <p:cNvSpPr/>
          <p:nvPr/>
        </p:nvSpPr>
        <p:spPr>
          <a:xfrm>
            <a:off x="8284464" y="2907791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WE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5944" y="2889503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Wenche Evertsen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Country Manager of Norway</a:t>
            </a:r>
          </a:p>
        </p:txBody>
      </p:sp>
      <p:sp>
        <p:nvSpPr>
          <p:cNvPr id="26" name="Oval 25"/>
          <p:cNvSpPr/>
          <p:nvPr/>
        </p:nvSpPr>
        <p:spPr>
          <a:xfrm>
            <a:off x="8284464" y="3337559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19271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Karolina Gutke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Country Manager of Sweden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and EBITDA (NOKm)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9768" y="4178808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767328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rev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36" y="4288536"/>
            <a:ext cx="2893342" cy="20116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88536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Share price vs OSEBX (5 years)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88536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26096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8536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rel_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25" y="4288536"/>
            <a:ext cx="3473500" cy="2011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147304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ratios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47304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1484864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7304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8193024" y="4315968"/>
          <a:ext cx="3520440" cy="1755648"/>
        </p:xfrm>
        <a:graphic>
          <a:graphicData uri="http://schemas.openxmlformats.org/drawingml/2006/table">
            <a:tbl>
              <a:tblPr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</a:tblGrid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ROIC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Payout ratio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#2 Market overview and peer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Market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SATS versus its peer group: growth, profitability and the drivers behind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31" b="1" i="0">
                <a:solidFill>
                  <a:srgbClr val="003255"/>
                </a:solidFill>
                <a:latin typeface="Arial"/>
              </a:rPr>
              <a:t>High and growing participation in strength training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81304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rke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2" y="1636776"/>
            <a:ext cx="3325491" cy="1993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Leading market position in Scandinavia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88536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671815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ark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745" y="1636776"/>
            <a:ext cx="2761181" cy="19933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Proven pricing power: ARPM growth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813048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mark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22" y="4151376"/>
            <a:ext cx="3325491" cy="19933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88536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Rising disposable income supports affordability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8536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671815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8536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mark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5" y="4186539"/>
            <a:ext cx="3566160" cy="192306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47304" y="1280160"/>
            <a:ext cx="3614623" cy="24688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Opportunities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1527048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65592" y="1563624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Proven ability to </a:t>
            </a:r>
            <a:r>
              <a:rPr sz="850" b="1" i="0">
                <a:solidFill>
                  <a:srgbClr val="003154"/>
                </a:solidFill>
                <a:latin typeface="Arial"/>
              </a:rPr>
              <a:t>raise prices above CPI</a:t>
            </a:r>
            <a:r>
              <a:rPr sz="850" b="0" i="0">
                <a:solidFill>
                  <a:srgbClr val="003154"/>
                </a:solidFill>
                <a:latin typeface="Arial"/>
              </a:rPr>
              <a:t> through product tiers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Continued </a:t>
            </a:r>
            <a:r>
              <a:rPr sz="850" b="1" i="0">
                <a:solidFill>
                  <a:srgbClr val="003154"/>
                </a:solidFill>
                <a:latin typeface="Arial"/>
              </a:rPr>
              <a:t>ARPM growth</a:t>
            </a:r>
            <a:r>
              <a:rPr sz="850" b="0" i="0">
                <a:solidFill>
                  <a:srgbClr val="003154"/>
                </a:solidFill>
                <a:latin typeface="Arial"/>
              </a:rPr>
              <a:t> from dynamic pricing and premium concept roll-outs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Structural under-penetration versus the US (9% vs 24%) leaves a long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7304" y="2980944"/>
            <a:ext cx="3614623" cy="24688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Disruption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3227832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3264408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Countering boutique studios by </a:t>
            </a:r>
            <a:r>
              <a:rPr sz="850" b="1" i="0">
                <a:solidFill>
                  <a:srgbClr val="003154"/>
                </a:solidFill>
                <a:latin typeface="Arial"/>
              </a:rPr>
              <a:t>integrating high-end concepts</a:t>
            </a:r>
            <a:r>
              <a:rPr sz="850" b="0" i="0">
                <a:solidFill>
                  <a:srgbClr val="003154"/>
                </a:solidFill>
                <a:latin typeface="Arial"/>
              </a:rPr>
              <a:t> inside existing clubs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SATS App</a:t>
            </a:r>
            <a:r>
              <a:rPr sz="850" b="0" i="0">
                <a:solidFill>
                  <a:srgbClr val="003154"/>
                </a:solidFill>
                <a:latin typeface="Arial"/>
              </a:rPr>
              <a:t> and online training act as retention tools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47304" y="4681727"/>
            <a:ext cx="3614623" cy="246888"/>
          </a:xfrm>
          <a:prstGeom prst="rect">
            <a:avLst/>
          </a:prstGeom>
          <a:solidFill>
            <a:srgbClr val="8F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Threats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47304" y="4928615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65592" y="4965191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Macro headwinds</a:t>
            </a:r>
            <a:r>
              <a:rPr sz="850" b="0" i="0">
                <a:solidFill>
                  <a:srgbClr val="003154"/>
                </a:solidFill>
                <a:latin typeface="Arial"/>
              </a:rPr>
              <a:t>: prolonged high interest rates could pressure disposable income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Aggressive low-cost competition</a:t>
            </a:r>
            <a:r>
              <a:rPr sz="850" b="0" i="0">
                <a:solidFill>
                  <a:srgbClr val="003154"/>
                </a:solidFill>
                <a:latin typeface="Arial"/>
              </a:rPr>
              <a:t> could limit pricing flexibility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Statistics Norway (SSB) training trends; MarketLine Gyms, Health &amp; Fitness Clubs Scandinavia; company reports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#3 Historical analysis and forecasts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Financials and estimates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SATS financials, pre-IFRS 16 basis (NOKm)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8549633" cy="2029968"/>
        </p:xfrm>
        <a:graphic>
          <a:graphicData uri="http://schemas.openxmlformats.org/drawingml/2006/table">
            <a:tbl>
              <a:tblPr/>
              <a:tblGrid>
                <a:gridCol w="1051560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HISTORICAL</a:t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7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FORECAST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NOKm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2022A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TV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4,082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4,734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5,064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5,509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5,751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6,095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6,392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6,631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6,805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6,907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7,011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1,019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1,089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1,151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1,203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1,243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1,262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15.4%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17.0%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17.4%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17.7%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18.0%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18.0%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(165)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944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-4.0%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NOPAT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(129)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624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-3.2%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(174)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518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-4.3%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9768" y="3447287"/>
          <a:ext cx="4160520" cy="1014984"/>
        </p:xfrm>
        <a:graphic>
          <a:graphicData uri="http://schemas.openxmlformats.org/drawingml/2006/table">
            <a:tbl>
              <a:tblPr/>
              <a:tblGrid>
                <a:gridCol w="1051560"/>
                <a:gridCol w="777240"/>
                <a:gridCol w="777240"/>
                <a:gridCol w="777240"/>
                <a:gridCol w="777240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Multiples (at current price)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10.4x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10.1x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13.7x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14.0x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12.8x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18.8x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18.0x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16.4x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15.1x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FCF yield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818888" y="3447287"/>
            <a:ext cx="4160520" cy="1014983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64607" y="3465575"/>
            <a:ext cx="4069080" cy="1014983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Consensus</a:t>
            </a:r>
            <a:r>
              <a:rPr sz="750" b="0" i="0">
                <a:solidFill>
                  <a:srgbClr val="000000"/>
                </a:solidFill>
                <a:latin typeface="Arial"/>
              </a:rPr>
              <a:t> (5 analysts)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Target: NOK 51.80 (range 45–60)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Ratings: 3 buy / 2 hold / 0 sell</a:t>
            </a:r>
          </a:p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Engine:</a:t>
            </a:r>
            <a:r>
              <a:rPr sz="750" b="0" i="0">
                <a:solidFill>
                  <a:srgbClr val="000000"/>
                </a:solidFill>
                <a:latin typeface="Arial"/>
              </a:rPr>
              <a:t> HOLD, TP NOK 47.50 (+8%)</a:t>
            </a:r>
          </a:p>
        </p:txBody>
      </p:sp>
      <p:pic>
        <p:nvPicPr>
          <p:cNvPr id="9" name="Picture 8" descr="mul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56" y="4645151"/>
            <a:ext cx="1814662" cy="1581912"/>
          </a:xfrm>
          <a:prstGeom prst="rect">
            <a:avLst/>
          </a:prstGeom>
        </p:spPr>
      </p:pic>
      <p:pic>
        <p:nvPicPr>
          <p:cNvPr id="10" name="Picture 9" descr="mult_ev_e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256" y="4645151"/>
            <a:ext cx="1814662" cy="1581912"/>
          </a:xfrm>
          <a:prstGeom prst="rect">
            <a:avLst/>
          </a:prstGeom>
        </p:spPr>
      </p:pic>
      <p:pic>
        <p:nvPicPr>
          <p:cNvPr id="11" name="Picture 10" descr="mult_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2856" y="4645151"/>
            <a:ext cx="1814662" cy="1581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08008" y="1234439"/>
            <a:ext cx="255391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03255"/>
                </a:solidFill>
                <a:latin typeface="Arial"/>
              </a:rPr>
              <a:t>Financial commentary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08008" y="1508760"/>
            <a:ext cx="25539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08008" y="1554480"/>
            <a:ext cx="2553919" cy="469087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SATS grew revenue by 8.8% in 2025A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to NOK 5,509m, with pre-IFRS 16 EBITDA of NOK 922m (16.7% margin)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2026E is built on the 2 reported quarters: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revenue +4.9% year-to-date at a 16.7% EBITDA margin (17.0% a year earlier); the rest of the year at +3.8% growth on last year's seasonal margins gives NOK 5,751m (+4.4%) and a 16.4% margin; growth then follows consensus (5 analysts) and fades to 1.5% by 2031E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EBITDA margin path: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16.4% in 2026E to 18.0% in 2031E; D&amp;A 4.5% and capex 4.9% of revenue; tax rate 22%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Unlevered FCF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rises from NOK 546m to NOK 725m over the forecast period (10.5% FCF margin in 2031E)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Valuation vs peers: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SATS trades at 10.2x LTM EV/EBITDA versus a peer median of 11.2x (-9%) and 16.8x P/E versus 19.4x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Street view: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consensus target of NOK 51.80 across 5 analysts (+18% vs current price)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peer multiples on last reported fiscal year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#4 Valuation and concluding thoughts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We recommend a HOLD. Our 12-month target price of NOK 47.50 implies +8% upside and a +11% total return including dividend; 10.1x 2026E EV/EBITDA.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DCF fair value NOK 44.66, peer multiples NOK 50.66, scenario-weighted NOK 46.22 versus a share price of NOK 43.95 —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HOLD – 12m TP NOK 47.50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29768" y="1938528"/>
            <a:ext cx="3886200" cy="1691640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" y="1975104"/>
            <a:ext cx="3849624" cy="1645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DCF value of NOK 44.66 per share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(WACC 8.5%, terminal growth 1.5%); terminal value is 71% of EV, implying 8.5x exit EV/EBITDA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Peer multiples imply NOK 50.66</a:t>
            </a:r>
            <a:r>
              <a:rPr sz="800" b="0" i="0">
                <a:solidFill>
                  <a:srgbClr val="000000"/>
                </a:solidFill>
                <a:latin typeface="Arial"/>
              </a:rPr>
              <a:t> per share (median of EV/EBITDA, EV/EBIT and P/E-based values)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Scenarios: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bear NOK 28 / base NOK 45 / bull NOK 67; probability-weighted NOK 46.22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12-month target price NOK 47.50: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fair value NOK 44.66 (valued at 23.09.2026) rolled forward at the 9.2% cost of equity less NOK 1.44 dividend; expected total return +11%, rating 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831336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Valuation summary – Football field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4078224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9768" y="4142232"/>
            <a:ext cx="38862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4212436"/>
            <a:ext cx="3794760" cy="19444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90288" y="1627632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valuation – Sensitivity analysis (value per share)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90288" y="1874519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0288" y="1938528"/>
          <a:ext cx="5257795" cy="1719072"/>
        </p:xfrm>
        <a:graphic>
          <a:graphicData uri="http://schemas.openxmlformats.org/drawingml/2006/table">
            <a:tbl>
              <a:tblPr/>
              <a:tblGrid>
                <a:gridCol w="1234440"/>
                <a:gridCol w="574765"/>
                <a:gridCol w="574765"/>
                <a:gridCol w="574765"/>
                <a:gridCol w="574765"/>
                <a:gridCol w="574765"/>
                <a:gridCol w="574765"/>
                <a:gridCol w="574765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Terminal growth \ 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9.00%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9.50%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10.00%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0.75%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52.2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47.9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44.2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41.0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38.2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35.6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54.1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42.1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39.1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36.5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34.2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56.2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51.2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47.0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43.4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40.2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37.4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34.9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53.0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48.5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44.7</a:t>
                      </a:r>
                    </a:p>
                  </a:txBody>
                  <a:tcPr marL="36576" marR="36576" marT="9144" marB="9144" anchor="ctr">
                    <a:solidFill>
                      <a:srgbClr val="81B0C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41.3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38.4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35.8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60.8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55.0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50.2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42.5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36.7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63.5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57.2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52.0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47.6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43.8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40.5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37.6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66.5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59.6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54.0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45.2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41.7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38.6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90288" y="3840480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Multiple valuation and what the price implies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90288" y="4087368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590288" y="4151376"/>
            <a:ext cx="5257800" cy="2075687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08575" y="4187952"/>
            <a:ext cx="5221224" cy="20025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Trading at a discount: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10.2x EV/EBITDA vs 11.2x peer median (9% discount)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Earnings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16.8x trailing P/E vs 19.4x for peers (-13%); 13.0x vs 15.7x on next-twelve-month consensus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Versus own history: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10.7x trailing EV/EBITDA is above the 2.5-year median of 10.2x (70% of weeks were cheaper)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EV/EBITDA-implied value: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NOK 48.69 at the peer median of 11.2x (range 44–53 across the 25th–75th percentile)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WACC 8.6%</a:t>
            </a:r>
            <a:r>
              <a:rPr sz="800" b="0" i="0">
                <a:solidFill>
                  <a:srgbClr val="000000"/>
                </a:solidFill>
                <a:latin typeface="Arial"/>
              </a:rPr>
              <a:t>, in line with our 8.5%: the price discounts our cash flows at 10bp more than we do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at our WACC the price is consistent with a 2031E EBITDA margin of 17.8% versus 18.0% in our base case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76688" y="1627632"/>
            <a:ext cx="168523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408" y="1714918"/>
            <a:ext cx="1593799" cy="206570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10076688" y="4096512"/>
            <a:ext cx="1685239" cy="213055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bridge_m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2408" y="4191262"/>
            <a:ext cx="1593799" cy="1941051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WACC 8.5% (Yahoo Finance (5y monthly); regression vs OSEBX rejected (R2=0.02 &lt; 0.10), Blume-adjusted); terminal growth 1.5%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Cost of capital and DCF build-up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WACC 8.50% and terminal growth 1.50% give a fair value of NOK 44.66 per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0175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WACC build-up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0175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5387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3383280" cy="279349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Risk-free rate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(raw)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0.83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(adjusted, used)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Equity risk premium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Size premium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Cost of equity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9.24%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(pre-tax)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5.50%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(after 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4.29%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equity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85.0%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debt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8.50%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4485131"/>
            <a:ext cx="338328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Beta: Yahoo Finance (5y monthly); regression vs OSEBX rejected (R2=0.02 &lt; 0.10), Blume-adjusted.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Cross-check: bottom-up beta 0.83 (11 peers, unlevered median 0.65).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Size premium from config.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Cost of debt: interest expense / average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1280160"/>
            <a:ext cx="475487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build-up (NOKm)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7368" y="1527048"/>
            <a:ext cx="475488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93368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87368" y="1618488"/>
          <a:ext cx="5120634" cy="1289304"/>
        </p:xfrm>
        <a:graphic>
          <a:graphicData uri="http://schemas.openxmlformats.org/drawingml/2006/table">
            <a:tbl>
              <a:tblPr/>
              <a:tblGrid>
                <a:gridCol w="1417320"/>
                <a:gridCol w="617219"/>
                <a:gridCol w="617219"/>
                <a:gridCol w="617219"/>
                <a:gridCol w="617219"/>
                <a:gridCol w="617219"/>
                <a:gridCol w="617219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Share still to come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Years to discount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Discount factor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0.978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0.901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0.831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0.766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0.706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0.650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87368" y="3044951"/>
          <a:ext cx="5120640" cy="2615184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Bridge to value per share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NOKm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Sum of 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Terminal value (Gordon growth)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10,510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PV of terminal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6,835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Enterprise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9,683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net debt (30.06.2026)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(1,077)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minority interest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Equity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8,606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Shares outstanding (m)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192.7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Fair value per share (NOK, 23.09.2026)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44.66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x (1 + cost of equity 9.24%)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48.79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expected dividend per share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(1.44)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12-month target price (NOK, rounded)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47.50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82328" y="1280160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the share price implies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82328" y="1527048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2328" y="1591056"/>
            <a:ext cx="2279599" cy="214884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00616" y="1627632"/>
            <a:ext cx="2243023" cy="20756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WACC: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8.60% vs our 8.50%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terminal growth: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1.37% vs our 1.50%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2031E EBITDA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17.8% vs our 18.0%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0" i="0">
                <a:solidFill>
                  <a:srgbClr val="000000"/>
                </a:solidFill>
                <a:latin typeface="Arial"/>
              </a:rPr>
              <a:t>Each figure solves for the one input that makes the DCF equal today's price, holding the others at the base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3922776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checks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82328" y="4169664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87607" y="395935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2328" y="4233672"/>
            <a:ext cx="2279599" cy="199339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0616" y="4270248"/>
            <a:ext cx="2243023" cy="192023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Terminal value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is 71% of enterprise value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exit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8.5x EV/EBITDA vs 10.2x today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WACC − g spread: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7.00%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Net debt / EBITDA: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1.1x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Scenario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Probability-weighted value of NOK 46.22 per share versus a share price of NOK 43.95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Scenario table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1963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7040880" cy="1234440"/>
        </p:xfrm>
        <a:graphic>
          <a:graphicData uri="http://schemas.openxmlformats.org/drawingml/2006/table">
            <a:tbl>
              <a:tblPr/>
              <a:tblGrid>
                <a:gridCol w="141732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Probability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Growth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Margin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Terminal g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Revenue CAGR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 (NOK)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vs price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Bear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28.38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-35%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8.50%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44.66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Bull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67.18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+53%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Probability-weighted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46.22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+5%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3081528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drives each case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3328416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96328" y="3118104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392424"/>
            <a:ext cx="7040880" cy="283463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" y="3438144"/>
            <a:ext cx="7004304" cy="2743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Bear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Low-cost competition caps price increases and member growth stalls; revenue CAGR 1.8%, 2031E margin 16.0%, WACC 9.0% gives NOK 28.38 (-35%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Base (50%):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Consensus growth; margin expands to 18% on operating leverage; revenue CAGR 3.8%, 2031E margin 18.0%, WACC 8.5% gives NOK 44.66 (+2%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Bull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Premium concepts lift ARPM faster and club utilisation normalises; revenue CAGR 5.8%, 2031E margin 20.0%, WACC 8.0% gives NOK 67.18 (+53%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Shifts are additive to the base case: growth applies to every forecast year, the margin shift to the whole EBITDA margin path; capex and working capital follow revenue as in the base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1280160"/>
            <a:ext cx="36511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Value per share by scenario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44968" y="1527048"/>
            <a:ext cx="36511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4968" y="1591056"/>
            <a:ext cx="4016959" cy="4636007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scenarios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440532"/>
            <a:ext cx="3870655" cy="2937055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Peer group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Last-twelve-month multiples where the quarters are reported; EV on today's market cap, the latest net debt and the same lease basis as the target company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11332152" cy="4041648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Mkt cap (NOKm)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 (NOKm)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Rev. growth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P/E (NTM)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Basic-Fit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Global fitness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22,723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34,222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45.9x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46.2x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Planet Fitness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Global fitness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33,255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54,488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42.3%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Life Time Group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Global fitness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84,692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96,723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23.4%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23.9x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The Gym Group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Global fitness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4,157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4,905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30.3x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47.6x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33.7x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Xponential Fitness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Global fitness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1,828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6,000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Europris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13,780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15,454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Kid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4,951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6,032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Orkla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90,499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112,907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Clas Ohlson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26,048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23,936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Thule Group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20,605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24,521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Rusta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11,288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10,725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Peer median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15.7%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15.0x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19.4x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15.7x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Peer average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24.1x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25th percentile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75th percentile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17.3x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SATS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8,469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9,546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16.6%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10.2x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16.8x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13.0x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income basis: SATS LTM Jun 2026; peers LTM Jun 2026 (7), FY2025 (2), LTM Jul 2026 (2); n.m. = not meaningful (negative or above 60x)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through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SATS trades at 10.7x trailing EV/EBITDA against a 2.5-year median of 10.2x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EV/EBITDA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51631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8436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his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15" y="1645920"/>
            <a:ext cx="4612224" cy="26791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P/E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33007" y="1527048"/>
            <a:ext cx="51631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ist_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18" y="1645920"/>
            <a:ext cx="4627297" cy="26791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4562856"/>
            <a:ext cx="109663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Reading the bands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809744"/>
            <a:ext cx="109663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459943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873752"/>
            <a:ext cx="11332159" cy="135331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8056" y="4919472"/>
            <a:ext cx="11295583" cy="12618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EV/EBITDA: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10.7x today vs a median of 10.2x and an interquartile band of 8.1x–10.8x; 70% of weeks were cheaper. At its own median the share is worth NOK 43.15 (-2%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P/E: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18.7x today vs a median of 20.6x and an interquartile band of 17.6x–22.8x; 40% of weeks were cheaper. At its own median the share is worth NOK 48.24 (+10%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Cross-check – high agreement between the anchors: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the DCF is 12% below the peer-multiple value (NOK 50.66) and our target is 8% below the consensus of 5 analysts (NOK 51.80); the anchors agree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Each weekly close is paired with the latest fiscal year that was public at the time (75-day reporting lag), on the same lease basis as the model; net debt and the share count step once a year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Estimates vs consensus and value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Our 2026E EPS of NOK 2.44 is 17% below consensus; estimate momentum is positive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62179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Our estimates vs consensus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62179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391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6583680" cy="1143000"/>
        </p:xfrm>
        <a:graphic>
          <a:graphicData uri="http://schemas.openxmlformats.org/drawingml/2006/table">
            <a:tbl>
              <a:tblPr/>
              <a:tblGrid>
                <a:gridCol w="1828800"/>
                <a:gridCol w="792480"/>
                <a:gridCol w="792480"/>
                <a:gridCol w="792480"/>
                <a:gridCol w="792480"/>
                <a:gridCol w="792480"/>
                <a:gridCol w="79248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Consensus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Analysts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Revenue 2026E (NOKm)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5,751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5,721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5,656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5,752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Revenue 2027E (NOKm)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6,095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6,064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5,840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6,194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EPS 2026E (NOK)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2.44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2.94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-17.0%</a:t>
                      </a:r>
                    </a:p>
                  </a:txBody>
                  <a:tcPr marL="36576" marR="36576" marT="9144" marB="9144" anchor="ctr">
                    <a:solidFill>
                      <a:srgbClr val="F6E1DE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2.83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3.06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EPS 2027E (NOK)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2.68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3.53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-24.1%</a:t>
                      </a:r>
                    </a:p>
                  </a:txBody>
                  <a:tcPr marL="36576" marR="36576" marT="9144" marB="9144" anchor="ctr">
                    <a:solidFill>
                      <a:srgbClr val="F6E1DE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2.99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3.95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2962656"/>
            <a:ext cx="62179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Variant view, estimate momentum and catalysts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3209544"/>
            <a:ext cx="62179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739128" y="299923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273552"/>
            <a:ext cx="6583680" cy="295351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" y="3319272"/>
            <a:ext cx="6547104" cy="2862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EPS 2026E NOK 2.44 vs consensus NOK 2.94 (-17%):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we are below the 5 analysts – outside the range of estimates; 2027E -24%; our view rests on a 16.4% 2026E EBITDA margin and a 22% tax rate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Revenue 2026E NOK 5,751m vs consensus NOK 5,721m (+0.5%):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in line by construction – our growth is anchored on consensus, so the differentiated view sits in margins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Estimate momentum positive:</a:t>
            </a:r>
            <a:r>
              <a:rPr sz="819" b="0" i="0">
                <a:solidFill>
                  <a:srgbClr val="000000"/>
                </a:solidFill>
                <a:latin typeface="Arial"/>
              </a:rPr>
              <a:t> consensus EPS over the last 90 days 2026E +3.5%, 2027E +5.0%; 9 upward and 1 downward revisions in the last 30 days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19" b="1" i="0">
                <a:solidFill>
                  <a:srgbClr val="000000"/>
                </a:solidFill>
                <a:latin typeface="Arial"/>
              </a:rPr>
              <a:t>27.10.2026 – Quarterly results</a:t>
            </a:r>
            <a:r>
              <a:rPr sz="819" b="0" i="0">
                <a:solidFill>
                  <a:srgbClr val="000000"/>
                </a:solidFill>
                <a:latin typeface="Arial"/>
              </a:rPr>
              <a:t>: consensus revenue 1,337, EPS 0.67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1280160"/>
            <a:ext cx="41083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moves the value – one driver at a time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87768" y="1527048"/>
            <a:ext cx="41083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7768" y="1591056"/>
            <a:ext cx="4474159" cy="4636007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19" y="2219881"/>
            <a:ext cx="4327855" cy="336006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consensus: Yahoo Finance (mean of analyst estimates), revisions over 90 days; value drivers move one input at a time with everything else at the base case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Multiples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Growth and margin explain 6% of the dispersion in peer EV/EBITDA; fundamentals justify 11.4x for SATS against 10.2x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44805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EV/EBITDA against expected revenue growth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44805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0176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4846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905" y="1645920"/>
            <a:ext cx="4064044" cy="2496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" y="4361688"/>
            <a:ext cx="44805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Reading the multiples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4608575"/>
            <a:ext cx="44805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01768" y="4398264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" y="4672583"/>
            <a:ext cx="4846320" cy="15544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056" y="4718303"/>
            <a:ext cx="4809744" cy="1463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On next-twelve-month consensus</a:t>
            </a:r>
            <a:r>
              <a:rPr sz="780" b="0" i="0">
                <a:solidFill>
                  <a:srgbClr val="000000"/>
                </a:solidFill>
                <a:latin typeface="Arial"/>
              </a:rPr>
              <a:t> SATS trades at 13.0x P/E (peers 15.7x), 1.6x EV/Sales (peers 1.7x), 9.6x EV/EBITDA at the LTM margin (peers 10.4x); PEG 0.64 vs 1.05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Growth and margin explain 6% of the dispersion in peer EV/EBITDA</a:t>
            </a:r>
            <a:r>
              <a:rPr sz="780" b="0" i="0">
                <a:solidFill>
                  <a:srgbClr val="000000"/>
                </a:solidFill>
                <a:latin typeface="Arial"/>
              </a:rPr>
              <a:t> (10 peers): fundamentals justify 11.4x against the 11.2x median (+2%); the actual 10.2x leaves -10% unexplained. Evidence weak: multiples in this group are set by something the regression does not see – leverage, geography, liquidity or the cycle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Cash and payout:</a:t>
            </a:r>
            <a:r>
              <a:rPr sz="780" b="0" i="0">
                <a:solidFill>
                  <a:srgbClr val="000000"/>
                </a:solidFill>
                <a:latin typeface="Arial"/>
              </a:rPr>
              <a:t> 9.2% levered FCF yield vs 5.2% for peers; 3.3% dividend yield vs 4.2%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780" b="1" i="0">
                <a:solidFill>
                  <a:srgbClr val="000000"/>
                </a:solidFill>
                <a:latin typeface="Arial"/>
              </a:rPr>
              <a:t>Consensus EPS growth FY1:</a:t>
            </a:r>
            <a:r>
              <a:rPr sz="780" b="0" i="0">
                <a:solidFill>
                  <a:srgbClr val="000000"/>
                </a:solidFill>
                <a:latin typeface="Arial"/>
              </a:rPr>
              <a:t> +20% for SATS vs +16% for the peer median – the growth the forward multiple is buying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1280160"/>
            <a:ext cx="58457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Forward multiples and quality – consensus, calendarised to the next twelve months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50407" y="1527048"/>
            <a:ext cx="58457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50407" y="1618488"/>
          <a:ext cx="6211512" cy="3328416"/>
        </p:xfrm>
        <a:graphic>
          <a:graphicData uri="http://schemas.openxmlformats.org/drawingml/2006/table">
            <a:tbl>
              <a:tblPr/>
              <a:tblGrid>
                <a:gridCol w="1325880"/>
                <a:gridCol w="512406"/>
                <a:gridCol w="786384"/>
                <a:gridCol w="512406"/>
                <a:gridCol w="512406"/>
                <a:gridCol w="512406"/>
                <a:gridCol w="512406"/>
                <a:gridCol w="512406"/>
                <a:gridCol w="512406"/>
                <a:gridCol w="512406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EV/Sales NTM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EV/EBITDA NTM*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P/E FY0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P/E FY1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P/E NTM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EPS growth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PEG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FCF yield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Div. yield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Basic-Fit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+55%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0.29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Planet Fitness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Life Time Group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19.7x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-0.2%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The Gym Group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36.4x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32.8x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33.7x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3.07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Xponential Fitness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+112%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0.06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Europris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+25%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0.51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Kid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+21%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0.61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-1.7%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Orkla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3.60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Clas Ohlson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19.0x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2.53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Thule Group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1.14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Rusta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+16%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Peer median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10.4x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17.3x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14.3x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15.7x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+16%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5.2%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SATS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1.6x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9.6x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15.0x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12.4x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13.0x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+20%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0.64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50407" y="5001768"/>
            <a:ext cx="6211519" cy="1225295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680" b="0" i="1">
                <a:solidFill>
                  <a:srgbClr val="4A4A4A"/>
                </a:solidFill>
                <a:latin typeface="Arial"/>
              </a:rPr>
              <a:t>* NTM revenue at the LTM EBITDA margin: Yahoo Finance carries no EBITDA consensus. FY0 = fiscal year in progress; NTM = 27% of FY to 2026-12 + the rest of the following year. EV in each company's reporting currency (market cap converted from the listing currency) with the latest net debt; FCF yield is levered, after lease payments; n.m. = negative or above the cap.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consensus: Yahoo Finance mean estimates; regression: OLS with an intercept over the peers shown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