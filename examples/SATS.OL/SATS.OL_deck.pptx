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2606040"/>
          </a:xfrm>
          <a:prstGeom prst="rect">
            <a:avLst/>
          </a:prstGeom>
          <a:solidFill>
            <a:srgbClr val="0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68680" y="777240"/>
            <a:ext cx="7315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Cambria"/>
              </a:rPr>
              <a:t>Equity Research Engine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29844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Oscar Schjelderup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216152" y="2487168"/>
            <a:ext cx="1024128" cy="0"/>
          </a:xfrm>
          <a:prstGeom prst="line">
            <a:avLst/>
          </a:prstGeom>
          <a:ln w="127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269748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Cambria"/>
              </a:rPr>
              <a:t>SATS – Healthy body, healthy margins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41605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  <a:latin typeface="Cambria"/>
              </a:rPr>
              <a:t>Equity research case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56692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Arial"/>
              </a:rPr>
              <a:t>21.09.2026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355080"/>
            <a:ext cx="2743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50" b="0" i="0">
                <a:solidFill>
                  <a:srgbClr val="FFFFFF"/>
                </a:solidFill>
                <a:latin typeface="Arial"/>
              </a:rPr>
              <a:t>Private and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29768" y="329184"/>
            <a:ext cx="5486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429768" y="411480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Analyst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914400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Presenting a model-driven investment case on SATS ASA.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600200"/>
            <a:ext cx="1417320" cy="173736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800" b="1" i="0">
                <a:solidFill>
                  <a:srgbClr val="8F9DA6"/>
                </a:solidFill>
                <a:latin typeface="Cambria"/>
              </a:rPr>
              <a:t>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29768" y="3383280"/>
            <a:ext cx="3108960" cy="310896"/>
          </a:xfrm>
          <a:prstGeom prst="rect">
            <a:avLst/>
          </a:prstGeom>
          <a:solidFill>
            <a:srgbClr val="81B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Oscar Schjelderup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29967" y="1737360"/>
            <a:ext cx="38404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Arial"/>
              </a:rPr>
              <a:t>University: Copenhagen Business School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Arial"/>
              </a:rPr>
              <a:t>Year of study: 2nd year</a:t>
            </a:r>
          </a:p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000000"/>
                </a:solidFill>
                <a:latin typeface="Arial"/>
              </a:rPr>
              <a:t>Experience: HA Invest member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#1 The equity story of SATS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Company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SATS ASA – Fitness &amp; well-being in Norway, Sweden, Denmark, Finland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207008"/>
            <a:ext cx="11332159" cy="310896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0" bIns="0"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10.5% revenue CAGR, 16.7% EBITDA margin and 1.1x net debt/EBITDA — market cap NOK 8.6bn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627632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Company snapshot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9768" y="1874519"/>
            <a:ext cx="324611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767328" y="1664208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" y="1938528"/>
            <a:ext cx="3611880" cy="1874519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75488" y="1993392"/>
            <a:ext cx="3520440" cy="178307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Sector: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Fitness &amp; well-being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Footprint: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Norway, Sweden, Denmark, Finland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Business model: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Membership subscriptions &amp; other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Scale: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Employees: 10,000 | Revenue 2025A: NOK 5,509m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Market cap: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NOK 8,573m | EV NOK 9,576m</a:t>
            </a:r>
          </a:p>
          <a:p>
            <a:pPr algn="l">
              <a:lnSpc>
                <a:spcPct val="125000"/>
              </a:lnSpc>
            </a:pPr>
            <a:r>
              <a:rPr sz="850" b="1" i="0">
                <a:solidFill>
                  <a:srgbClr val="000000"/>
                </a:solidFill>
                <a:latin typeface="Arial"/>
              </a:rPr>
              <a:t>Share price: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NOK 44.35 | 52w range 35.0–47.5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88536" y="1627632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Investment highlights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88536" y="1874519"/>
            <a:ext cx="3246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7626096" y="1664208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88536" y="1938528"/>
            <a:ext cx="3611880" cy="1874519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306824" y="1975104"/>
            <a:ext cx="3575304" cy="1801367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Consistent growth: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revenue compounded at 10.5% p.a. over 2022–2025, reaching NOK 5,509m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Margin profile: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pre-IFRS 16 EBITDA margin of 16.7% in 2025A (up from 2.2% in 2022A), EBIT margin 12.7%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Cash generative: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unlevered FCF of NOK 518m in 2025A, 56% of EBITDA, ROIC 18%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Balance sheet: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net debt of NOK 1,003m equals 1.1x EBITDA, a conservative leverage level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47304" y="1627632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Management team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47304" y="1874519"/>
            <a:ext cx="3246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11484864" y="1664208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7304" y="1938528"/>
            <a:ext cx="3611880" cy="1874519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8284464" y="2048256"/>
            <a:ext cx="329184" cy="32918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SG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95944" y="2029968"/>
            <a:ext cx="2971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Sondre Gravir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CEO</a:t>
            </a:r>
          </a:p>
        </p:txBody>
      </p:sp>
      <p:sp>
        <p:nvSpPr>
          <p:cNvPr id="22" name="Oval 21"/>
          <p:cNvSpPr/>
          <p:nvPr/>
        </p:nvSpPr>
        <p:spPr>
          <a:xfrm>
            <a:off x="8284464" y="2478024"/>
            <a:ext cx="329184" cy="32918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95944" y="2459736"/>
            <a:ext cx="2971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Cecilie Elde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CFO</a:t>
            </a:r>
          </a:p>
        </p:txBody>
      </p:sp>
      <p:sp>
        <p:nvSpPr>
          <p:cNvPr id="24" name="Oval 23"/>
          <p:cNvSpPr/>
          <p:nvPr/>
        </p:nvSpPr>
        <p:spPr>
          <a:xfrm>
            <a:off x="8284464" y="2907791"/>
            <a:ext cx="329184" cy="32918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WE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95944" y="2889503"/>
            <a:ext cx="2971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Wenche Evertsen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Country Manager of Norway</a:t>
            </a:r>
          </a:p>
        </p:txBody>
      </p:sp>
      <p:sp>
        <p:nvSpPr>
          <p:cNvPr id="26" name="Oval 25"/>
          <p:cNvSpPr/>
          <p:nvPr/>
        </p:nvSpPr>
        <p:spPr>
          <a:xfrm>
            <a:off x="8284464" y="3337559"/>
            <a:ext cx="329184" cy="329184"/>
          </a:xfrm>
          <a:prstGeom prst="ellipse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800" b="1" i="0">
                <a:solidFill>
                  <a:srgbClr val="FFFFFF"/>
                </a:solidFill>
                <a:latin typeface="Arial"/>
              </a:rPr>
              <a:t>KG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95944" y="3319271"/>
            <a:ext cx="2971800" cy="38404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>
                <a:solidFill>
                  <a:srgbClr val="000000"/>
                </a:solidFill>
                <a:latin typeface="Arial"/>
              </a:rPr>
              <a:t>Karolina Gutke</a:t>
            </a:r>
          </a:p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000000"/>
                </a:solidFill>
                <a:latin typeface="Arial"/>
              </a:rPr>
              <a:t>Country Manager of Sweden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9768" y="3931920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Revenue and EBITDA (NOKm)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29768" y="4178808"/>
            <a:ext cx="324611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3767328" y="396849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9768" y="4242816"/>
            <a:ext cx="3611880" cy="21031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2" name="Picture 31" descr="rev_mar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036" y="4288536"/>
            <a:ext cx="2893342" cy="20116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288536" y="3931920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Share price vs OSEBX (5 years)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88536" y="4178808"/>
            <a:ext cx="3246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7626096" y="396849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88536" y="4242816"/>
            <a:ext cx="3611880" cy="21031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7" name="Picture 36" descr="rel_per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725" y="4288536"/>
            <a:ext cx="3473500" cy="2011680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147304" y="3931920"/>
            <a:ext cx="3246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Key ratios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147304" y="4178808"/>
            <a:ext cx="3246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11484864" y="396849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47304" y="4242816"/>
            <a:ext cx="3611880" cy="210312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8193024" y="4315968"/>
          <a:ext cx="3520440" cy="1755648"/>
        </p:xfrm>
        <a:graphic>
          <a:graphicData uri="http://schemas.openxmlformats.org/drawingml/2006/table">
            <a:tbl>
              <a:tblPr/>
              <a:tblGrid>
                <a:gridCol w="1234440"/>
                <a:gridCol w="457200"/>
                <a:gridCol w="457200"/>
                <a:gridCol w="457200"/>
                <a:gridCol w="457200"/>
                <a:gridCol w="457200"/>
              </a:tblGrid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2023A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2024A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Revenue growth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16.0%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8.8%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EBITDA margin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15.3%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15.4%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16.7%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16.9%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17.2%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EBIT 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FCF margin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8.3%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7.8%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9.4%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9.9%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10.4%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ROIC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12.8%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14.6%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18.3%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Net debt / EBITDA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2.0x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1.1x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9456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Payout ratio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27%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43" name="Connector 42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#2 Market overview and peer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Market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SATS versus its peer group: growth, profitability and the drivers behind the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329184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31" b="1" i="0">
                <a:solidFill>
                  <a:srgbClr val="003255"/>
                </a:solidFill>
                <a:latin typeface="Arial"/>
              </a:rPr>
              <a:t>High and growing participation in strength training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3291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81304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591056"/>
            <a:ext cx="3657600" cy="208483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market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22" y="1636776"/>
            <a:ext cx="3325491" cy="19933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288536" y="1280160"/>
            <a:ext cx="329184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Leading market position in Scandinavia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88536" y="1527048"/>
            <a:ext cx="3291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7671815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8536" y="1591056"/>
            <a:ext cx="3657600" cy="208483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market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6745" y="1636776"/>
            <a:ext cx="2761181" cy="199339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9768" y="3794760"/>
            <a:ext cx="329184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Proven pricing power: ARPM growth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9768" y="4041648"/>
            <a:ext cx="3291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3813048" y="38313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4105656"/>
            <a:ext cx="3657600" cy="208483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9" name="Picture 18" descr="market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822" y="4151376"/>
            <a:ext cx="3325491" cy="199339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4288536" y="3794760"/>
            <a:ext cx="329184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Rising disposable income supports affordability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288536" y="4041648"/>
            <a:ext cx="3291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7671815" y="38313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88536" y="4105656"/>
            <a:ext cx="3657600" cy="208483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market_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4255" y="4186539"/>
            <a:ext cx="3566160" cy="1923064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8147304" y="1280160"/>
            <a:ext cx="3614623" cy="246888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Opportunities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47304" y="1527048"/>
            <a:ext cx="3614623" cy="1316736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165592" y="1563624"/>
            <a:ext cx="3578047" cy="12435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0" i="0">
                <a:solidFill>
                  <a:srgbClr val="003154"/>
                </a:solidFill>
                <a:latin typeface="Arial"/>
              </a:rPr>
              <a:t>Proven ability to </a:t>
            </a:r>
            <a:r>
              <a:rPr sz="850" b="1" i="0">
                <a:solidFill>
                  <a:srgbClr val="003154"/>
                </a:solidFill>
                <a:latin typeface="Arial"/>
              </a:rPr>
              <a:t>raise prices above CPI</a:t>
            </a:r>
            <a:r>
              <a:rPr sz="850" b="0" i="0">
                <a:solidFill>
                  <a:srgbClr val="003154"/>
                </a:solidFill>
                <a:latin typeface="Arial"/>
              </a:rPr>
              <a:t> through product tiers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0" i="0">
                <a:solidFill>
                  <a:srgbClr val="003154"/>
                </a:solidFill>
                <a:latin typeface="Arial"/>
              </a:rPr>
              <a:t>Continued </a:t>
            </a:r>
            <a:r>
              <a:rPr sz="850" b="1" i="0">
                <a:solidFill>
                  <a:srgbClr val="003154"/>
                </a:solidFill>
                <a:latin typeface="Arial"/>
              </a:rPr>
              <a:t>ARPM growth</a:t>
            </a:r>
            <a:r>
              <a:rPr sz="850" b="0" i="0">
                <a:solidFill>
                  <a:srgbClr val="003154"/>
                </a:solidFill>
                <a:latin typeface="Arial"/>
              </a:rPr>
              <a:t> from dynamic pricing and premium concept roll-outs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0" i="0">
                <a:solidFill>
                  <a:srgbClr val="003154"/>
                </a:solidFill>
                <a:latin typeface="Arial"/>
              </a:rPr>
              <a:t>Structural under-penetration versus the US (9% vs 24%) leaves a long runway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147304" y="2980944"/>
            <a:ext cx="3614623" cy="246888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Disruption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147304" y="3227832"/>
            <a:ext cx="3614623" cy="1316736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165592" y="3264408"/>
            <a:ext cx="3578047" cy="12435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0" i="0">
                <a:solidFill>
                  <a:srgbClr val="003154"/>
                </a:solidFill>
                <a:latin typeface="Arial"/>
              </a:rPr>
              <a:t>Countering boutique studios by </a:t>
            </a:r>
            <a:r>
              <a:rPr sz="850" b="1" i="0">
                <a:solidFill>
                  <a:srgbClr val="003154"/>
                </a:solidFill>
                <a:latin typeface="Arial"/>
              </a:rPr>
              <a:t>integrating high-end concepts</a:t>
            </a:r>
            <a:r>
              <a:rPr sz="850" b="0" i="0">
                <a:solidFill>
                  <a:srgbClr val="003154"/>
                </a:solidFill>
                <a:latin typeface="Arial"/>
              </a:rPr>
              <a:t> inside existing clubs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3154"/>
                </a:solidFill>
                <a:latin typeface="Arial"/>
              </a:rPr>
              <a:t>SATS App</a:t>
            </a:r>
            <a:r>
              <a:rPr sz="850" b="0" i="0">
                <a:solidFill>
                  <a:srgbClr val="003154"/>
                </a:solidFill>
                <a:latin typeface="Arial"/>
              </a:rPr>
              <a:t> and online training act as retention tools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47304" y="4681727"/>
            <a:ext cx="3614623" cy="246888"/>
          </a:xfrm>
          <a:prstGeom prst="rect">
            <a:avLst/>
          </a:prstGeom>
          <a:solidFill>
            <a:srgbClr val="8FC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" rIns="45720" tIns="0" bIns="0"/>
          <a:lstStyle/>
          <a:p>
            <a:pPr algn="ctr"/>
            <a:r>
              <a:rPr sz="950" b="1" i="0">
                <a:solidFill>
                  <a:srgbClr val="FFFFFF"/>
                </a:solidFill>
                <a:latin typeface="Arial"/>
              </a:rPr>
              <a:t>Threats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147304" y="4928615"/>
            <a:ext cx="3614623" cy="1316736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8165592" y="4965191"/>
            <a:ext cx="3578047" cy="1243584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3154"/>
                </a:solidFill>
                <a:latin typeface="Arial"/>
              </a:rPr>
              <a:t>Macro headwinds</a:t>
            </a:r>
            <a:r>
              <a:rPr sz="850" b="0" i="0">
                <a:solidFill>
                  <a:srgbClr val="003154"/>
                </a:solidFill>
                <a:latin typeface="Arial"/>
              </a:rPr>
              <a:t>: prolonged high interest rates could pressure disposable income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3154"/>
                </a:solidFill>
                <a:latin typeface="Arial"/>
              </a:rPr>
              <a:t>Aggressive low-cost competition</a:t>
            </a:r>
            <a:r>
              <a:rPr sz="850" b="0" i="0">
                <a:solidFill>
                  <a:srgbClr val="003154"/>
                </a:solidFill>
                <a:latin typeface="Arial"/>
              </a:rPr>
              <a:t> could limit pricing flexibility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Statistics Norway (SSB) training trends; MarketLine Gyms, Health &amp; Fitness Clubs Scandinavia; company reports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#3 Historical analysis and forecasts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Financials and estimates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SATS financials, pre-IFRS 16 basis (NOKm)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9768" y="1280160"/>
          <a:ext cx="8549633" cy="2029968"/>
        </p:xfrm>
        <a:graphic>
          <a:graphicData uri="http://schemas.openxmlformats.org/drawingml/2006/table">
            <a:tbl>
              <a:tblPr/>
              <a:tblGrid>
                <a:gridCol w="1051560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  <a:gridCol w="681643"/>
              </a:tblGrid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4">
                  <a:txBody>
                    <a:bodyPr wrap="non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HISTORICAL</a:t>
                      </a:r>
                    </a:p>
                  </a:txBody>
                  <a:tcPr marL="36576" marR="36576" marT="9144" marB="9144" anchor="ctr">
                    <a:solidFill>
                      <a:srgbClr val="8F9DA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8F9DA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8F9DA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8F9DA6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gridSpan="7">
                  <a:txBody>
                    <a:bodyPr wrap="none"/>
                    <a:lstStyle/>
                    <a:p>
                      <a:pPr algn="ct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FORECAST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 hMerge="1"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NOKm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2022A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2023A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2024A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2031E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TV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Revenue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4,082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4,734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5,064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5,509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5,728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6,086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6,395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6,643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6,822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6,924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7,028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Growth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16.0%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7.0%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8.8%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4.0%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6.3%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5.1%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3.9%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2.7%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EBITDA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779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922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971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1,044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1,111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1,168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1,214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1,246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1,265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2.2%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15.3%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15.4%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16.7%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16.9%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17.2%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17.4%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17.6%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17.8%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18.0%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18.0%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EBIT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(165)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543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711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768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821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867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904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932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946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-4.0%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12.4%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12.6%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12.8%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13.5%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NOPAT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(129)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354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408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537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555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599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640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676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705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727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-3.2%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7.5%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8.1%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9.7%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9.8%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10.0%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10.2%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10.3%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Unlevered FCF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(174)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395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393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518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631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666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694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714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727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000000"/>
                          </a:solidFill>
                          <a:latin typeface="Arial"/>
                        </a:rPr>
                        <a:t>738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FCF margin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-4.3%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8.3%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7.8%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9.9%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10.4%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10.4%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10.4%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1">
                          <a:solidFill>
                            <a:srgbClr val="000000"/>
                          </a:solidFill>
                          <a:latin typeface="Arial"/>
                        </a:rPr>
                        <a:t>10.5%</a:t>
                      </a:r>
                    </a:p>
                  </a:txBody>
                  <a:tcPr marL="36576" marR="36576" marT="9144" marB="9144" anchor="ctr">
                    <a:solidFill>
                      <a:srgbClr val="F4F6F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29768" y="3447287"/>
          <a:ext cx="4160520" cy="1014984"/>
        </p:xfrm>
        <a:graphic>
          <a:graphicData uri="http://schemas.openxmlformats.org/drawingml/2006/table">
            <a:tbl>
              <a:tblPr/>
              <a:tblGrid>
                <a:gridCol w="1051560"/>
                <a:gridCol w="777240"/>
                <a:gridCol w="777240"/>
                <a:gridCol w="777240"/>
                <a:gridCol w="777240"/>
              </a:tblGrid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Multiples (at current price)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2025A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EV/Sales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1.6x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EV/EBITDA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10.4x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9.9x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9.2x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8.6x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EV/EBIT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13.7x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13.5x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12.5x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11.7x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P/E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19.0x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17.4x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16.0x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14.9x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169164">
                <a:tc>
                  <a:txBody>
                    <a:bodyPr wrap="none"/>
                    <a:lstStyle/>
                    <a:p>
                      <a:pPr algn="l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FCF yield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6.0%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6.6%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7.4%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00" b="0" i="0">
                          <a:solidFill>
                            <a:srgbClr val="000000"/>
                          </a:solidFill>
                          <a:latin typeface="Arial"/>
                        </a:rPr>
                        <a:t>7.8%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4818888" y="3447287"/>
            <a:ext cx="4160520" cy="1014983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864607" y="3465575"/>
            <a:ext cx="4069080" cy="1014983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000000"/>
                </a:solidFill>
                <a:latin typeface="Arial"/>
              </a:rPr>
              <a:t>Consensus</a:t>
            </a:r>
            <a:r>
              <a:rPr sz="750" b="0" i="0">
                <a:solidFill>
                  <a:srgbClr val="000000"/>
                </a:solidFill>
                <a:latin typeface="Arial"/>
              </a:rPr>
              <a:t> (5 analysts)</a:t>
            </a:r>
          </a:p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000000"/>
                </a:solidFill>
                <a:latin typeface="Arial"/>
              </a:rPr>
              <a:t>Target: NOK 52.00 (range 45–60)</a:t>
            </a:r>
          </a:p>
          <a:p>
            <a:pPr algn="l">
              <a:lnSpc>
                <a:spcPct val="110000"/>
              </a:lnSpc>
            </a:pPr>
            <a:r>
              <a:rPr sz="750" b="0" i="0">
                <a:solidFill>
                  <a:srgbClr val="000000"/>
                </a:solidFill>
                <a:latin typeface="Arial"/>
              </a:rPr>
              <a:t>Ratings: 3 buy / 2 hold / 0 sell</a:t>
            </a:r>
          </a:p>
          <a:p>
            <a:pPr algn="l">
              <a:lnSpc>
                <a:spcPct val="110000"/>
              </a:lnSpc>
            </a:pPr>
            <a:r>
              <a:rPr sz="750" b="1" i="0">
                <a:solidFill>
                  <a:srgbClr val="000000"/>
                </a:solidFill>
                <a:latin typeface="Arial"/>
              </a:rPr>
              <a:t>Engine:</a:t>
            </a:r>
            <a:r>
              <a:rPr sz="750" b="0" i="0">
                <a:solidFill>
                  <a:srgbClr val="000000"/>
                </a:solidFill>
                <a:latin typeface="Arial"/>
              </a:rPr>
              <a:t> HOLD, TP NOK 47.00 (+6%)</a:t>
            </a:r>
          </a:p>
        </p:txBody>
      </p:sp>
      <p:pic>
        <p:nvPicPr>
          <p:cNvPr id="9" name="Picture 8" descr="mult_ev_ebit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656" y="4645151"/>
            <a:ext cx="1814662" cy="1581912"/>
          </a:xfrm>
          <a:prstGeom prst="rect">
            <a:avLst/>
          </a:prstGeom>
        </p:spPr>
      </p:pic>
      <p:pic>
        <p:nvPicPr>
          <p:cNvPr id="10" name="Picture 9" descr="mult_ev_e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97256" y="4645151"/>
            <a:ext cx="1814662" cy="1581912"/>
          </a:xfrm>
          <a:prstGeom prst="rect">
            <a:avLst/>
          </a:prstGeom>
        </p:spPr>
      </p:pic>
      <p:pic>
        <p:nvPicPr>
          <p:cNvPr id="11" name="Picture 10" descr="mult_p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856" y="4645151"/>
            <a:ext cx="1814662" cy="1581912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08008" y="1234439"/>
            <a:ext cx="2553919" cy="2743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l"/>
            <a:r>
              <a:rPr sz="1000" b="1" i="0">
                <a:solidFill>
                  <a:srgbClr val="003255"/>
                </a:solidFill>
                <a:latin typeface="Arial"/>
              </a:rPr>
              <a:t>Financial commentary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208008" y="1508760"/>
            <a:ext cx="255391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208008" y="1554480"/>
            <a:ext cx="2553919" cy="4690871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SATS grew revenue by 8.8% in 2025A</a:t>
            </a:r>
            <a:r>
              <a:rPr sz="850" b="0" i="0">
                <a:solidFill>
                  <a:srgbClr val="000000"/>
                </a:solidFill>
                <a:latin typeface="Arial"/>
              </a:rPr>
              <a:t> to NOK 5,509m, with pre-IFRS 16 EBITDA of NOK 922m (16.7% margin)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We forecast 2026E revenue of NOK 5,728m (+4.0%)</a:t>
            </a:r>
            <a:r>
              <a:rPr sz="850" b="0" i="0">
                <a:solidFill>
                  <a:srgbClr val="000000"/>
                </a:solidFill>
                <a:latin typeface="Arial"/>
              </a:rPr>
              <a:t>, anchored on consensus (5 analysts), fading to 1.5% terminal growth by 2031E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EBITDA margin path: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16.9% in 2026E to 18.0% in 2031E; D&amp;A 4.5% and capex 4.9% of revenue; tax rate 22%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Unlevered FCF</a:t>
            </a:r>
            <a:r>
              <a:rPr sz="850" b="0" i="0">
                <a:solidFill>
                  <a:srgbClr val="000000"/>
                </a:solidFill>
                <a:latin typeface="Arial"/>
              </a:rPr>
              <a:t> rises from NOK 565m to NOK 727m over the forecast period (10.5% FCF margin in 2031E)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Valuation vs peers: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SATS trades at 10.4x LTM EV/EBITDA versus a peer median of 11.4x (-9%) and 19.0x P/E versus 19.6x</a:t>
            </a:r>
          </a:p>
          <a:p>
            <a:pPr marL="128016" indent="-128016">
              <a:lnSpc>
                <a:spcPct val="105000"/>
              </a:lnSpc>
              <a:spcAft>
                <a:spcPts val="5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Street view: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consensus target of NOK 52.00 across 5 analysts (+17% vs current price)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estimates; peer multiples on last reported fiscal year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#4 Valuation and concluding thoughts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Valuation and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We recommend a HOLD. Our 12-month target price of NOK 47.00 implies +6% upside and a +7% total return including dividend; 9.9x 2026E EV/EBITDA.</a:t>
            </a:r>
          </a:p>
        </p:txBody>
      </p:sp>
      <p:sp>
        <p:nvSpPr>
          <p:cNvPr id="5" name="Rectangle 4"/>
          <p:cNvSpPr/>
          <p:nvPr/>
        </p:nvSpPr>
        <p:spPr>
          <a:xfrm>
            <a:off x="429768" y="1207008"/>
            <a:ext cx="11332159" cy="310896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tIns="0" bIns="0" wrap="square"/>
          <a:lstStyle/>
          <a:p>
            <a:pPr algn="l"/>
            <a:r>
              <a:rPr sz="950" b="1" i="0">
                <a:solidFill>
                  <a:srgbClr val="FFFFFF"/>
                </a:solidFill>
                <a:latin typeface="Arial"/>
              </a:rPr>
              <a:t>DCF fair value NOK 43.67, peer multiples NOK 45.91, scenario-weighted NOK 45.17 versus a share price of NOK 44.35 — HOLD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9768" y="1627632"/>
            <a:ext cx="388620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HOLD – 12m TP NOK 47.00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9768" y="1874519"/>
            <a:ext cx="388620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29768" y="1938528"/>
            <a:ext cx="3886200" cy="1691640"/>
          </a:xfrm>
          <a:prstGeom prst="rect">
            <a:avLst/>
          </a:prstGeom>
          <a:solidFill>
            <a:srgbClr val="EDEDED"/>
          </a:solidFill>
          <a:ln w="95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48056" y="1975104"/>
            <a:ext cx="3849624" cy="164592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DCF value of NOK 43.67 per share</a:t>
            </a:r>
            <a:r>
              <a:rPr sz="800" b="0" i="0">
                <a:solidFill>
                  <a:srgbClr val="000000"/>
                </a:solidFill>
                <a:latin typeface="Arial"/>
              </a:rPr>
              <a:t> (WACC 8.5%, terminal growth 1.5%); terminal value is 68% of EV, implying 8.4x exit EV/EBITDA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Peer multiples imply NOK 45.91</a:t>
            </a:r>
            <a:r>
              <a:rPr sz="800" b="0" i="0">
                <a:solidFill>
                  <a:srgbClr val="000000"/>
                </a:solidFill>
                <a:latin typeface="Arial"/>
              </a:rPr>
              <a:t> per share (median of EV/EBITDA, EV/EBIT and P/E-based values)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Scenarios: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bear NOK 28 / base NOK 44 / bull NOK 65; probability-weighted NOK 45.17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12-month target price NOK 47.00: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fair value NOK 43.67 rolled forward at the 9.2% cost of equity less NOK 0.66 dividend; expected total return +7%, rating 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831336"/>
            <a:ext cx="388620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Valuation summary – Football field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29768" y="4078224"/>
            <a:ext cx="388620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429768" y="4142232"/>
            <a:ext cx="3886200" cy="2084831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3" name="Picture 12" descr="footb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02" y="4187952"/>
            <a:ext cx="3786730" cy="199339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90288" y="1627632"/>
            <a:ext cx="525780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DCF valuation – Sensitivity analysis (value per share)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590288" y="1874519"/>
            <a:ext cx="525780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90288" y="1938528"/>
          <a:ext cx="5257795" cy="1719072"/>
        </p:xfrm>
        <a:graphic>
          <a:graphicData uri="http://schemas.openxmlformats.org/drawingml/2006/table">
            <a:tbl>
              <a:tblPr/>
              <a:tblGrid>
                <a:gridCol w="1234440"/>
                <a:gridCol w="574765"/>
                <a:gridCol w="574765"/>
                <a:gridCol w="574765"/>
                <a:gridCol w="574765"/>
                <a:gridCol w="574765"/>
                <a:gridCol w="574765"/>
                <a:gridCol w="574765"/>
              </a:tblGrid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Terminal growth \ WACC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7.01%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7.51%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8.01%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8.51%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9.01%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9.51%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10.01%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0.75%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51.4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47.1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43.4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40.2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37.4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34.9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32.7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1.00%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53.2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48.6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44.7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41.3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38.3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35.7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33.4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1.25%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55.1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50.2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46.0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42.4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39.3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36.6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34.1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1" i="0">
                          <a:solidFill>
                            <a:srgbClr val="FFFFFF"/>
                          </a:solidFill>
                          <a:latin typeface="Arial"/>
                        </a:rPr>
                        <a:t>1.50%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57.2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51.9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47.5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43.7</a:t>
                      </a:r>
                    </a:p>
                  </a:txBody>
                  <a:tcPr marL="36576" marR="36576" marT="9144" marB="9144" anchor="ctr">
                    <a:solidFill>
                      <a:srgbClr val="81B0C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40.4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37.5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1" i="0">
                          <a:solidFill>
                            <a:srgbClr val="000000"/>
                          </a:solidFill>
                          <a:latin typeface="Arial"/>
                        </a:rPr>
                        <a:t>34.9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1.75%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59.5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53.8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49.1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45.0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41.5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38.4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35.7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2.00%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62.1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55.9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50.8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46.4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42.7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39.5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36.6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750" b="0" i="0">
                          <a:solidFill>
                            <a:srgbClr val="FFFFFF"/>
                          </a:solidFill>
                          <a:latin typeface="Arial"/>
                        </a:rPr>
                        <a:t>2.25%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64.9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58.1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52.6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47.9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44.0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40.5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750" b="0" i="0">
                          <a:solidFill>
                            <a:srgbClr val="000000"/>
                          </a:solidFill>
                          <a:latin typeface="Arial"/>
                        </a:rPr>
                        <a:t>37.6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90288" y="3840480"/>
            <a:ext cx="525780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Multiple valuation and what the price implies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590288" y="4087368"/>
            <a:ext cx="525780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4590288" y="4151376"/>
            <a:ext cx="5257800" cy="2075687"/>
          </a:xfrm>
          <a:prstGeom prst="rect">
            <a:avLst/>
          </a:prstGeom>
          <a:solidFill>
            <a:srgbClr val="EDEDED"/>
          </a:solidFill>
          <a:ln w="9525">
            <a:solidFill>
              <a:srgbClr val="4A4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08575" y="4187952"/>
            <a:ext cx="5221224" cy="2002535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Trading at a discount: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10.4x EV/EBITDA vs 11.4x peer median (9% discount)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Earnings multiple: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19.0x trailing P/E vs 19.6x for peers (-3%)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Versus own history: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10.9x trailing EV/EBITDA is above the 2.5-year median of 10.2x (76% of weeks were cheaper)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EV/EBITDA-implied value: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NOK 49.33 at the peer median of 11.4x (range 46–54 across the 25th–75th percentile)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Market-implied WACC 8.4%</a:t>
            </a:r>
            <a:r>
              <a:rPr sz="800" b="0" i="0">
                <a:solidFill>
                  <a:srgbClr val="000000"/>
                </a:solidFill>
                <a:latin typeface="Arial"/>
              </a:rPr>
              <a:t>, in line with our 8.5%: the price discounts our cash flows at 9bp less than we do</a:t>
            </a:r>
          </a:p>
          <a:p>
            <a:pPr marL="128016" indent="-128016">
              <a:lnSpc>
                <a:spcPct val="105000"/>
              </a:lnSpc>
              <a:spcAft>
                <a:spcPts val="3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Market-implied margin: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at our WACC the price is consistent with a 2031E EBITDA margin of 18.2% versus 18.0% in our base case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076688" y="1627632"/>
            <a:ext cx="1685239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2" name="Picture 21" descr="scenari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22408" y="1714918"/>
            <a:ext cx="1593799" cy="2065706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10076688" y="4096512"/>
            <a:ext cx="1685239" cy="2130551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bridge_mu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22408" y="4191262"/>
            <a:ext cx="1593799" cy="1941051"/>
          </a:xfrm>
          <a:prstGeom prst="rect">
            <a:avLst/>
          </a:prstGeom>
        </p:spPr>
      </p:pic>
      <p:cxnSp>
        <p:nvCxnSpPr>
          <p:cNvPr id="25" name="Connector 24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estimates; WACC 8.5% (Yahoo Finance (5y monthly); regression vs OSEBX rejected (R2=0.02 &lt; 0.10), Blume-adjusted); terminal growth 1.5%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Cost of capital and DCF build-up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WACC 8.51% and terminal growth 1.50% give a fair value of NOK 43.67 per share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30175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WACC build-up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30175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353872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9768" y="1618488"/>
          <a:ext cx="3383280" cy="2793492"/>
        </p:xfrm>
        <a:graphic>
          <a:graphicData uri="http://schemas.openxmlformats.org/drawingml/2006/table">
            <a:tbl>
              <a:tblPr/>
              <a:tblGrid>
                <a:gridCol w="2286000"/>
                <a:gridCol w="1097280"/>
              </a:tblGrid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Component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Value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Risk-free rate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3.80%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Beta (raw)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0.83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Beta (adjusted, used)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0.89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Equity risk premium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5.00%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Size premium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Cost of equity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9.24%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Cost of debt (pre-tax)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5.50%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Tax rate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22.0%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Cost of debt (after tax)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4.29%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Weight of equity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85.2%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Weight of debt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14.8%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WACC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8.51%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9768" y="4485131"/>
            <a:ext cx="338328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4A4A4A"/>
                </a:solidFill>
                <a:latin typeface="Arial"/>
              </a:rPr>
              <a:t>Beta: Yahoo Finance (5y monthly); regression vs OSEBX rejected (R2=0.02 &lt; 0.10), Blume-adjusted.</a:t>
            </a:r>
          </a:p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4A4A4A"/>
                </a:solidFill>
                <a:latin typeface="Arial"/>
              </a:rPr>
              <a:t>Size premium from config.</a:t>
            </a:r>
          </a:p>
          <a:p>
            <a:pPr algn="l">
              <a:lnSpc>
                <a:spcPct val="110000"/>
              </a:lnSpc>
            </a:pPr>
            <a:r>
              <a:rPr sz="750" b="0" i="1">
                <a:solidFill>
                  <a:srgbClr val="4A4A4A"/>
                </a:solidFill>
                <a:latin typeface="Arial"/>
              </a:rPr>
              <a:t>Cost of debt: interest expense / average debt.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87368" y="1280160"/>
            <a:ext cx="475487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DCF build-up (NOKm)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87368" y="1527048"/>
            <a:ext cx="475488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93368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4087368" y="1618488"/>
          <a:ext cx="5120634" cy="859536"/>
        </p:xfrm>
        <a:graphic>
          <a:graphicData uri="http://schemas.openxmlformats.org/drawingml/2006/table">
            <a:tbl>
              <a:tblPr/>
              <a:tblGrid>
                <a:gridCol w="1417320"/>
                <a:gridCol w="617219"/>
                <a:gridCol w="617219"/>
                <a:gridCol w="617219"/>
                <a:gridCol w="617219"/>
                <a:gridCol w="617219"/>
                <a:gridCol w="617219"/>
              </a:tblGrid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2026E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2027E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2028E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2029E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2030E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2031E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Unlevered FCF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631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666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694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727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Discount factor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0.922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0.849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0.783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0.721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0.665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0.613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1488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PV of FCF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520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536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521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500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475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445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4087368" y="2615184"/>
          <a:ext cx="5120640" cy="2615184"/>
        </p:xfrm>
        <a:graphic>
          <a:graphicData uri="http://schemas.openxmlformats.org/drawingml/2006/table">
            <a:tbl>
              <a:tblPr/>
              <a:tblGrid>
                <a:gridCol w="3931920"/>
                <a:gridCol w="1188720"/>
              </a:tblGrid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Bridge to value per share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NOKm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Sum of PV of FCF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2,998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Terminal value (Gordon growth)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10,525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PV of terminal value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6,447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Enterprise value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9,445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Less: net debt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(1,003)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Less: minority interest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Equity value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8,442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Shares outstanding (m)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193.3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Fair value per share (NOK)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43.67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x (1 + cost of equity 9.24%)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47.71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Less: expected dividend per share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(0.66)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0116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12-month target price (NOK, rounded)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47.00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9482328" y="1280160"/>
            <a:ext cx="191383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What the share price implies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482328" y="1527048"/>
            <a:ext cx="1913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48760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82328" y="1591056"/>
            <a:ext cx="2279599" cy="2148840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00616" y="1627632"/>
            <a:ext cx="2243023" cy="2075688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Implied WACC: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8.42% vs our 8.51%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Implied terminal growth: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1.63% vs our 1.50%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Implied 2031E EBITDA margin: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18.2% vs our 18.0%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0" i="0">
                <a:solidFill>
                  <a:srgbClr val="000000"/>
                </a:solidFill>
                <a:latin typeface="Arial"/>
              </a:rPr>
              <a:t>Each figure solves for the one input that makes the DCF equal today's price, holding the others at the base case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3922776"/>
            <a:ext cx="191383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Key checks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482328" y="4169664"/>
            <a:ext cx="191383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 21"/>
          <p:cNvSpPr/>
          <p:nvPr/>
        </p:nvSpPr>
        <p:spPr>
          <a:xfrm>
            <a:off x="11487607" y="3959352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482328" y="4233672"/>
            <a:ext cx="2279599" cy="199339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500616" y="4270248"/>
            <a:ext cx="2243023" cy="1920239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Terminal value</a:t>
            </a:r>
            <a:r>
              <a:rPr sz="800" b="0" i="0">
                <a:solidFill>
                  <a:srgbClr val="000000"/>
                </a:solidFill>
                <a:latin typeface="Arial"/>
              </a:rPr>
              <a:t> is 68% of enterprise value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Implied exit multiple: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8.4x EV/EBITDA vs 10.4x today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WACC − g spread: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7.01%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00" b="1" i="0">
                <a:solidFill>
                  <a:srgbClr val="000000"/>
                </a:solidFill>
                <a:latin typeface="Arial"/>
              </a:rPr>
              <a:t>Net debt / EBITDA:</a:t>
            </a:r>
            <a:r>
              <a:rPr sz="800" b="0" i="0">
                <a:solidFill>
                  <a:srgbClr val="000000"/>
                </a:solidFill>
                <a:latin typeface="Arial"/>
              </a:rPr>
              <a:t> 1.1x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Scenario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Probability-weighted value of NOK 45.17 per share versus a share price of NOK 44.35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6675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Scenario table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6675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7196328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29768" y="1618488"/>
          <a:ext cx="7040880" cy="1234440"/>
        </p:xfrm>
        <a:graphic>
          <a:graphicData uri="http://schemas.openxmlformats.org/drawingml/2006/table">
            <a:tbl>
              <a:tblPr/>
              <a:tblGrid>
                <a:gridCol w="1417320"/>
                <a:gridCol w="624840"/>
                <a:gridCol w="624840"/>
                <a:gridCol w="624840"/>
                <a:gridCol w="624840"/>
                <a:gridCol w="624840"/>
                <a:gridCol w="624840"/>
                <a:gridCol w="624840"/>
                <a:gridCol w="624840"/>
                <a:gridCol w="624840"/>
              </a:tblGrid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Scenario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Probability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Growth shift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Margin shift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WACC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Terminal g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Revenue CAGR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2031E margin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Value (NOK)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vs price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Bear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-2.0%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-2.0%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9.01%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27.97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-37%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Base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+0.0%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8.51%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1.50%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3.9%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18.0%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43.67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-2%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Bull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+2.0%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+2.0%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8.01%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1.75%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20.0%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65.36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+47%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46888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Probability-weighted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100%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45.17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+2%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29768" y="3081528"/>
            <a:ext cx="6675120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What drives each case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29768" y="3328416"/>
            <a:ext cx="667512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7196328" y="3118104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" y="3392424"/>
            <a:ext cx="7040880" cy="2834639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48056" y="3438144"/>
            <a:ext cx="7004304" cy="2743200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Bear (25%):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Low-cost competition caps price increases and member growth stalls; revenue CAGR 1.9%, 2031E margin 16.0%, WACC 9.0% gives NOK 27.97 (-37%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Base (50%):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Consensus growth; margin expands to 18% on operating leverage; revenue CAGR 3.9%, 2031E margin 18.0%, WACC 8.5% gives NOK 43.67 (-2%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Bull (25%):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Premium concepts lift ARPM faster and club utilisation normalises; revenue CAGR 5.9%, 2031E margin 20.0%, WACC 8.0% gives NOK 65.36 (+47%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0" i="0">
                <a:solidFill>
                  <a:srgbClr val="000000"/>
                </a:solidFill>
                <a:latin typeface="Arial"/>
              </a:rPr>
              <a:t>Shifts are additive to the base case: growth applies to every forecast year, the margin shift to the whole EBITDA margin path; capex and working capital follow revenue as in the base case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44968" y="1280160"/>
            <a:ext cx="365119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Value per share by scenario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44968" y="1527048"/>
            <a:ext cx="365119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1148760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44968" y="1591056"/>
            <a:ext cx="4016959" cy="4636007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scenarios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440532"/>
            <a:ext cx="3870655" cy="2937055"/>
          </a:xfrm>
          <a:prstGeom prst="rect">
            <a:avLst/>
          </a:prstGeom>
        </p:spPr>
      </p:pic>
      <p:cxnSp>
        <p:nvCxnSpPr>
          <p:cNvPr id="19" name="Connector 18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Peer group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Multiples on the last reported fiscal year, enterprise value on the same lease basis as the target company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29768" y="1280160"/>
          <a:ext cx="11332152" cy="4041648"/>
        </p:xfrm>
        <a:graphic>
          <a:graphicData uri="http://schemas.openxmlformats.org/drawingml/2006/table">
            <a:tbl>
              <a:tblPr/>
              <a:tblGrid>
                <a:gridCol w="2194560"/>
                <a:gridCol w="1737360"/>
                <a:gridCol w="822248"/>
                <a:gridCol w="822248"/>
                <a:gridCol w="822248"/>
                <a:gridCol w="822248"/>
                <a:gridCol w="822248"/>
                <a:gridCol w="822248"/>
                <a:gridCol w="822248"/>
                <a:gridCol w="822248"/>
                <a:gridCol w="822248"/>
              </a:tblGrid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Company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Group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Mkt cap (NOKm)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EV (NOKm)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Rev. growth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EBITDA margin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EV/Sales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EV/EBITDA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EV/EBIT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P/E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FFFFFF"/>
                          </a:solidFill>
                          <a:latin typeface="Arial"/>
                        </a:rPr>
                        <a:t>P/E (fwd)</a:t>
                      </a:r>
                    </a:p>
                  </a:txBody>
                  <a:tcPr marL="36576" marR="36576" marT="9144" marB="9144" anchor="ctr">
                    <a:solidFill>
                      <a:srgbClr val="003255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Basic-Fit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Global fitness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22,902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34,883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21.3%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46.9x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46.8x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6350">
                      <a:solidFill>
                        <a:srgbClr val="003255"/>
                      </a:solidFill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Planet Fitness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Global fitness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35,535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55,509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12.1%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41.9%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4.5x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10.7x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14.9x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17.2x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13.7x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Life Time Group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Global fitness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86,698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98,882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14.3%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22.1%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28.8x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22.7x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20.3x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The Gym Group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Global fitness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4,117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4,861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8.2%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18.8%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1.6x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30.2x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47.3x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33.1x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Xponential Fitness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Global fitness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1,750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5,203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-1.7%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-1.1%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–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Europris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consumer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13,633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14,541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16.7%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8.6%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1.0x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13.2x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15.9x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12.2x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Kid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consumer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4,829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5,551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4.2%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12.3%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18.6x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Orkla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consumer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87,662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103,402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3.3%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16.5%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8.8x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11.2x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13.9x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13.3x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Clas Ohlson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consumer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25,836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24,080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7.6%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15.0x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21.5x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33.3x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Thule Group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consumer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20,482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24,069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9.3%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19.5%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12.4x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14.9x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19.1x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14.0x</a:t>
                      </a:r>
                    </a:p>
                  </a:txBody>
                  <a:tcPr marL="36576" marR="36576" marT="9144" marB="9144" anchor="ctr">
                    <a:solidFill>
                      <a:srgbClr val="EDEDED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Rusta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Nordic consumer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11,514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11,361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6.5%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7.7%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0.9x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15.5x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20.2x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16.6x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Peer median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8.2%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16.5%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11.4x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15.9x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19.6x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13.8x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Peer average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8.9%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16.4%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11.7x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20.9x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24.3x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17.1x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25th percentile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5.4%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10.5%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10.7x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14.9x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17.5x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12.7x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75th percentile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/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13.2%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20.4%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2.3x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12.4x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25.9x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22.4x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0" i="0">
                          <a:solidFill>
                            <a:srgbClr val="000000"/>
                          </a:solidFill>
                          <a:latin typeface="Arial"/>
                        </a:rPr>
                        <a:t>18.5x</a:t>
                      </a:r>
                    </a:p>
                  </a:txBody>
                  <a:tcPr marL="36576" marR="36576" marT="9144" marB="9144" anchor="ctr">
                    <a:solidFill>
                      <a:srgbClr val="FFFFFF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237744"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SATS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l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Target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8,573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9,576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8.8%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16.7%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1.7x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10.4x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13.7x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19.0x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  <a:tc>
                  <a:txBody>
                    <a:bodyPr wrap="none"/>
                    <a:lstStyle/>
                    <a:p>
                      <a:pPr algn="r"/>
                      <a:r>
                        <a:rPr sz="800" b="1" i="0">
                          <a:solidFill>
                            <a:srgbClr val="000000"/>
                          </a:solidFill>
                          <a:latin typeface="Arial"/>
                        </a:rPr>
                        <a:t>15.0x</a:t>
                      </a:r>
                    </a:p>
                  </a:txBody>
                  <a:tcPr marL="36576" marR="36576" marT="9144" marB="9144" anchor="ctr">
                    <a:solidFill>
                      <a:srgbClr val="DCE6F0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6350">
                      <a:solidFill>
                        <a:srgbClr val="BFC5CA"/>
                      </a:solidFill>
                    </a:lnB>
                  </a:tcPr>
                </a:tc>
              </a:tr>
            </a:tbl>
          </a:graphicData>
        </a:graphic>
      </p:graphicFrame>
      <p:cxnSp>
        <p:nvCxnSpPr>
          <p:cNvPr id="6" name="Connector 5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estimates; n.m. = not meaningful (negative or above 60x)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29768" y="164592"/>
            <a:ext cx="11332159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 i="0">
                <a:solidFill>
                  <a:srgbClr val="003255"/>
                </a:solidFill>
                <a:latin typeface="Arial"/>
              </a:rPr>
              <a:t>Appendix #4.4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384048"/>
            <a:ext cx="1133215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0" i="0">
                <a:solidFill>
                  <a:srgbClr val="003255"/>
                </a:solidFill>
                <a:latin typeface="Cambria"/>
              </a:rPr>
              <a:t>Valuation through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96112"/>
            <a:ext cx="1133215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003154"/>
                </a:solidFill>
                <a:latin typeface="Arial"/>
              </a:rPr>
              <a:t>SATS trades at 10.9x trailing EV/EBITDA against a 2.5-year median of 10.2x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9768" y="1280160"/>
            <a:ext cx="516315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Trailing EV/EBITDA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429768" y="1527048"/>
            <a:ext cx="516315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568436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" y="1591056"/>
            <a:ext cx="5528919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9" name="Picture 8" descr="hist_ev_ebitd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115" y="1645920"/>
            <a:ext cx="4612224" cy="267919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33007" y="1280160"/>
            <a:ext cx="516315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Trailing P/E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33007" y="1527048"/>
            <a:ext cx="5163160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11487607" y="1316736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33007" y="1591056"/>
            <a:ext cx="5528919" cy="2788920"/>
          </a:xfrm>
          <a:prstGeom prst="rect">
            <a:avLst/>
          </a:prstGeom>
          <a:solidFill>
            <a:srgbClr val="FFFFFF"/>
          </a:solidFill>
          <a:ln w="9525">
            <a:solidFill>
              <a:srgbClr val="0032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4" name="Picture 13" descr="hist_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3818" y="1645920"/>
            <a:ext cx="4627297" cy="267919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29768" y="4562856"/>
            <a:ext cx="10966399" cy="237744"/>
          </a:xfrm>
          <a:prstGeom prst="rect">
            <a:avLst/>
          </a:prstGeom>
          <a:noFill/>
        </p:spPr>
        <p:txBody>
          <a:bodyPr wrap="none" anchor="b" lIns="18288" rIns="18288" tIns="18288" bIns="18288">
            <a:spAutoFit/>
          </a:bodyPr>
          <a:lstStyle/>
          <a:p>
            <a:pPr algn="l"/>
            <a:r>
              <a:rPr sz="950" b="1" i="0">
                <a:solidFill>
                  <a:srgbClr val="003255"/>
                </a:solidFill>
                <a:latin typeface="Arial"/>
              </a:rPr>
              <a:t>Reading the bands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9768" y="4809744"/>
            <a:ext cx="10966399" cy="0"/>
          </a:xfrm>
          <a:prstGeom prst="line">
            <a:avLst/>
          </a:prstGeom>
          <a:ln w="12700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1487607" y="4599432"/>
            <a:ext cx="256032" cy="256032"/>
          </a:xfrm>
          <a:prstGeom prst="rect">
            <a:avLst/>
          </a:prstGeom>
          <a:solidFill>
            <a:srgbClr val="0032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" y="4873752"/>
            <a:ext cx="11332159" cy="1353311"/>
          </a:xfrm>
          <a:prstGeom prst="rect">
            <a:avLst/>
          </a:prstGeom>
          <a:solidFill>
            <a:srgbClr val="EDED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48056" y="4919472"/>
            <a:ext cx="11295583" cy="1261872"/>
          </a:xfrm>
          <a:prstGeom prst="rect">
            <a:avLst/>
          </a:prstGeom>
          <a:noFill/>
        </p:spPr>
        <p:txBody>
          <a:bodyPr wrap="square" anchor="t" lIns="54864" rIns="54864" tIns="54864" bIns="54864">
            <a:spAutoFit/>
          </a:bodyPr>
          <a:lstStyle/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EV/EBITDA: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10.9x today vs a median of 10.2x and an interquartile band of 8.1x–10.8x; 76% of weeks were cheaper. At its own median the share is worth NOK 43.39 (-2%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P/E: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19.0x today vs a median of 20.6x and an interquartile band of 17.6x–22.8x; 43% of weeks were cheaper. At its own median the share is worth NOK 48.24 (+9% vs price)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1" i="0">
                <a:solidFill>
                  <a:srgbClr val="000000"/>
                </a:solidFill>
                <a:latin typeface="Arial"/>
              </a:rPr>
              <a:t>Cross-check – high agreement between the anchors:</a:t>
            </a:r>
            <a:r>
              <a:rPr sz="850" b="0" i="0">
                <a:solidFill>
                  <a:srgbClr val="000000"/>
                </a:solidFill>
                <a:latin typeface="Arial"/>
              </a:rPr>
              <a:t> the DCF is 5% below the peer-multiple value (NOK 45.91) and our target is 10% below the consensus of 5 analysts (NOK 52.00); the anchors agree</a:t>
            </a:r>
          </a:p>
          <a:p>
            <a:pPr marL="128016" indent="-128016">
              <a:lnSpc>
                <a:spcPct val="105000"/>
              </a:lnSpc>
              <a:spcAft>
                <a:spcPts val="400"/>
              </a:spcAft>
              <a:buClr>
                <a:srgbClr val="003255"/>
              </a:buClr>
              <a:buFont typeface="Arial"/>
              <a:buChar char="▪"/>
            </a:pPr>
            <a:r>
              <a:rPr sz="850" b="0" i="0">
                <a:solidFill>
                  <a:srgbClr val="000000"/>
                </a:solidFill>
                <a:latin typeface="Arial"/>
              </a:rPr>
              <a:t>Each weekly close is paired with the latest fiscal year that was public at the time (75-day reporting lag), on the same lease basis as the model; net debt and the share count step once a year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29768" y="6336792"/>
            <a:ext cx="10024567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9768" y="6355079"/>
            <a:ext cx="9905695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Sources: Company reports, Yahoo Finance, Equity Research Engine estimates</a:t>
            </a:r>
          </a:p>
          <a:p>
            <a:pPr algn="l"/>
            <a:r>
              <a:rPr sz="650" b="0" i="1">
                <a:solidFill>
                  <a:srgbClr val="4A4A4A"/>
                </a:solidFill>
                <a:latin typeface="Arial"/>
              </a:rPr>
              <a:t>For illustration only — not investment advice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591495" y="6336792"/>
            <a:ext cx="1170432" cy="0"/>
          </a:xfrm>
          <a:prstGeom prst="line">
            <a:avLst/>
          </a:prstGeom>
          <a:ln w="9525">
            <a:solidFill>
              <a:srgbClr val="0032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591495" y="637336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50" b="1" i="0">
                <a:solidFill>
                  <a:srgbClr val="003255"/>
                </a:solidFill>
                <a:latin typeface="Cambria"/>
              </a:rPr>
              <a:t>Equity Research Engine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33327" y="6373368"/>
            <a:ext cx="228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00" b="0" i="0">
                <a:solidFill>
                  <a:srgbClr val="003255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