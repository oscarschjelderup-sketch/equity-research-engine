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0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mbria"/>
              </a:rPr>
              <a:t>Equity Research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2984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16152" y="2487168"/>
            <a:ext cx="102412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mbria"/>
              </a:rPr>
              <a:t>Mowi – BUY: +59% to our NOK 308.50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mbria"/>
              </a:rPr>
              <a:t>Initiation of coverage – BUY, target price NOK 308.50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23.09.2026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Arial"/>
              </a:rPr>
              <a:t>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9768" y="329184"/>
            <a:ext cx="5486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29768" y="411480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14400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Presenting a model-driven investment case on Mowi 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600200"/>
            <a:ext cx="1417320" cy="173736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8F9DA6"/>
                </a:solidFill>
                <a:latin typeface="Cambria"/>
              </a:rPr>
              <a:t>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3383280"/>
            <a:ext cx="310896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1737360"/>
            <a:ext cx="3840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University: Copenhagen Business School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Year of study: 2nd year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Experience: HA Invest 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#1 The equity story of Mowi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Mowi ASA – Farm Products in Norway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5.0% revenue CAGR, 20.9% EBITDA margin and 2.2x net debt/EBITDA — market cap EUR 9.4bn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Company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67328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" y="1993392"/>
            <a:ext cx="3520440" cy="178307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Sector: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Farm Products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Footprint: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Norway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Business model: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Farm Products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Scale: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Employees: 12,174 | Revenue 2025A: EUR 5,689m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Market cap: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EUR 9,426m | EV EUR 12,445m | reports in EUR, trades in NOK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Share price: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193.70 | 52w range 179.4–245.8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Investment highlights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26096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6824" y="1975104"/>
            <a:ext cx="3575304" cy="180136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Consistent growth: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revenue compounded at 5.0% p.a. over 2022–2025, reaching EUR 5,689m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Margin profile: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pre-IFRS 16 EBITDA margin of 20.9% in 2025A (down from 24.9% in 2022A), EBIT margin 16.5%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Cash generative: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unlevered FCF of EUR 634m in 2025A, 53% of EBITDA, ROIC 11%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Balance sheet: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net debt of EUR 2,826m equals 2.2x EBITDA, a moderate leverage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Management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84864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84464" y="2048256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029968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Ivan Vindheim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CEO</a:t>
            </a:r>
          </a:p>
        </p:txBody>
      </p:sp>
      <p:sp>
        <p:nvSpPr>
          <p:cNvPr id="22" name="Oval 21"/>
          <p:cNvSpPr/>
          <p:nvPr/>
        </p:nvSpPr>
        <p:spPr>
          <a:xfrm>
            <a:off x="8284464" y="2478024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459736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Kristian Ellingsen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CFO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2907791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889503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Catarina Martins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Chief Sustainability Officer &amp; CTO</a:t>
            </a:r>
          </a:p>
        </p:txBody>
      </p:sp>
      <p:sp>
        <p:nvSpPr>
          <p:cNvPr id="26" name="Oval 25"/>
          <p:cNvSpPr/>
          <p:nvPr/>
        </p:nvSpPr>
        <p:spPr>
          <a:xfrm>
            <a:off x="8284464" y="3337559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19271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Ola Brattvoll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COO of Sales &amp; 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and EBITDA (EURm)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8" y="4178808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rev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36" y="4288536"/>
            <a:ext cx="2893342" cy="2011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88536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Share price vs OSEBX (5 years)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88536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26096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8536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l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25" y="4288536"/>
            <a:ext cx="3473500" cy="2011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47304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ratios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47304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484864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193024" y="4315968"/>
          <a:ext cx="3520440" cy="1755648"/>
        </p:xfrm>
        <a:graphic>
          <a:graphicData uri="http://schemas.openxmlformats.org/drawingml/2006/table">
            <a:tbl>
              <a:tblPr/>
              <a:tblGrid>
                <a:gridCol w="1234440"/>
                <a:gridCol w="457200"/>
                <a:gridCol w="457200"/>
                <a:gridCol w="457200"/>
                <a:gridCol w="457200"/>
                <a:gridCol w="457200"/>
              </a:tblGrid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21.9%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ROIC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Payout ratio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#2 Market overview and peer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Mowi versus its peer group: growth, profitability and the drivers behind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growth vs peers (last fiscal year)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304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rke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7" y="1805613"/>
            <a:ext cx="3566160" cy="1655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EBITDA margin vs peers (lease-adjusted)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8536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1815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mark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5" y="1805613"/>
            <a:ext cx="3566160" cy="16557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EV/EBITDA vs peers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3048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ark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" y="4320213"/>
            <a:ext cx="3566160" cy="165571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88536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P/E vs peers (trailing)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8536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71815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mark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5" y="4320213"/>
            <a:ext cx="3566160" cy="165571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47304" y="1280160"/>
            <a:ext cx="3614623" cy="24688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527048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65592" y="1563624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Growth runway:</a:t>
            </a:r>
            <a:r>
              <a:rPr sz="850" b="0" i="0">
                <a:solidFill>
                  <a:srgbClr val="003154"/>
                </a:solidFill>
                <a:latin typeface="Arial"/>
              </a:rPr>
              <a:t> consensus expects 11.6% revenue growth in 2026E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Operating leverage:</a:t>
            </a:r>
            <a:r>
              <a:rPr sz="850" b="0" i="0">
                <a:solidFill>
                  <a:srgbClr val="003154"/>
                </a:solidFill>
                <a:latin typeface="Arial"/>
              </a:rPr>
              <a:t> every 1pp of EBITDA margin is worth roughly EUR 80m of EBITDA in 2031E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2980944"/>
            <a:ext cx="3614623" cy="2468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Disruption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3227832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3264408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Business model shifts</a:t>
            </a:r>
            <a:r>
              <a:rPr sz="850" b="0" i="0">
                <a:solidFill>
                  <a:srgbClr val="003154"/>
                </a:solidFill>
                <a:latin typeface="Arial"/>
              </a:rPr>
              <a:t> in the sector may change the competitive 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4681727"/>
            <a:ext cx="3614623" cy="246888"/>
          </a:xfrm>
          <a:prstGeom prst="rect">
            <a:avLst/>
          </a:prstGeom>
          <a:solidFill>
            <a:srgbClr val="8F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4928615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65592" y="4965191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Macro:</a:t>
            </a:r>
            <a:r>
              <a:rPr sz="850" b="0" i="0">
                <a:solidFill>
                  <a:srgbClr val="003154"/>
                </a:solidFill>
                <a:latin typeface="Arial"/>
              </a:rPr>
              <a:t> consumer spending, interest rates and FX can move revenue and the discount rate simultaneously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Mowi financials, pre-IFRS 16 basis (EURm)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8549633" cy="2029968"/>
        </p:xfrm>
        <a:graphic>
          <a:graphicData uri="http://schemas.openxmlformats.org/drawingml/2006/table">
            <a:tbl>
              <a:tblPr/>
              <a:tblGrid>
                <a:gridCol w="1051560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HISTORICAL</a:t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7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FORECAST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EURm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2022A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TV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4,907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5,478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5,566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5,689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6,350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6,834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7,258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7,606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7,865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8,023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8,183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4.8%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1,319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1,411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1,489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1,593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1,615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1,647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24.9%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20.1%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1,033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1,060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1,132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1,192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1,240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1,272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1,287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1,312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21.0%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18.1%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NOPAT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992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1,004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1,024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14.0%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909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11.3%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" y="3447287"/>
          <a:ext cx="4160520" cy="1014984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777240"/>
                <a:gridCol w="777240"/>
                <a:gridCol w="777240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Multiples (at current price)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2.2x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10.5x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3.4%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5.2%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818888" y="3447287"/>
            <a:ext cx="4160520" cy="101498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64607" y="3465575"/>
            <a:ext cx="4069080" cy="1014983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Consensus</a:t>
            </a:r>
            <a:r>
              <a:rPr sz="750" b="0" i="0">
                <a:solidFill>
                  <a:srgbClr val="000000"/>
                </a:solidFill>
                <a:latin typeface="Arial"/>
              </a:rPr>
              <a:t> (11 analysts)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Target: NOK 224.40 (range 194–248)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Ratings: 8 buy / 4 hold / 0 sell</a:t>
            </a:r>
          </a:p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Engine:</a:t>
            </a:r>
            <a:r>
              <a:rPr sz="750" b="0" i="0">
                <a:solidFill>
                  <a:srgbClr val="000000"/>
                </a:solidFill>
                <a:latin typeface="Arial"/>
              </a:rPr>
              <a:t> BUY, TP NOK 308.50 (+59%)</a:t>
            </a:r>
          </a:p>
        </p:txBody>
      </p:sp>
      <p:pic>
        <p:nvPicPr>
          <p:cNvPr id="9" name="Picture 8" descr="mul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56" y="4645151"/>
            <a:ext cx="1814662" cy="1581912"/>
          </a:xfrm>
          <a:prstGeom prst="rect">
            <a:avLst/>
          </a:prstGeom>
        </p:spPr>
      </p:pic>
      <p:pic>
        <p:nvPicPr>
          <p:cNvPr id="10" name="Picture 9" descr="mult_ev_e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56" y="4645151"/>
            <a:ext cx="1814662" cy="1581912"/>
          </a:xfrm>
          <a:prstGeom prst="rect">
            <a:avLst/>
          </a:prstGeom>
        </p:spPr>
      </p:pic>
      <p:pic>
        <p:nvPicPr>
          <p:cNvPr id="11" name="Picture 10" descr="mult_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56" y="4645151"/>
            <a:ext cx="1814662" cy="1581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08008" y="1234439"/>
            <a:ext cx="25539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03255"/>
                </a:solidFill>
                <a:latin typeface="Arial"/>
              </a:rPr>
              <a:t>Financial commentary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08008" y="1508760"/>
            <a:ext cx="25539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08008" y="1554480"/>
            <a:ext cx="2553919" cy="469087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Mowi grew revenue by 2.2% in 2025A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to EUR 5,689m, with pre-IFRS 16 EBITDA of EUR 1,189m (20.9% margin)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We forecast 2026E revenue of EUR 6,350m (+11.6%)</a:t>
            </a:r>
            <a:r>
              <a:rPr sz="850" b="0" i="0">
                <a:solidFill>
                  <a:srgbClr val="000000"/>
                </a:solidFill>
                <a:latin typeface="Arial"/>
              </a:rPr>
              <a:t>, anchored on consensus (9 analysts), fading to 2.0% terminal growth by 2031E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EBITDA margin path: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20.8% in 2026E to 20.1% in 2031E; D&amp;A 4.1% and capex 6.9% normalising to 4.3% of revenue; tax rate 22%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Unlevered FCF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rises from EUR 323m to EUR 909m over the forecast period (11.3% FCF margin in 2031E)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Valuation vs peers: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Mowi trades at 10.4x LTM EV/EBITDA versus a peer median of 11.2x (-8%) and 14.7x P/E versus 33.0x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Street view: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consensus target of NOK 224.40 across 11 analysts (+16% vs current price)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peer multiples on last reported fiscal year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We recommend a BUY. Our 12-month target price of NOK 308.50 implies +59% upside and a +63% total return including dividend; 9.4x 2026E EV/EBITDA.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DCF fair value NOK 293.47, peer multiples NOK 203.35, scenario-weighted NOK 303.68 versus a share price of NOK 193.70 — 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BUY – 12m TP NOK 308.50 · low 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" y="1938528"/>
            <a:ext cx="3886200" cy="1691640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6" y="1975104"/>
            <a:ext cx="3849624" cy="1645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DCF value of NOK 293.47 per share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(WACC 6.6%, terminal growth 2.0%); terminal value is 83% of EV, implying 12.5x exit EV/EBITDA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Peer multiples imply NOK 203.35</a:t>
            </a:r>
            <a:r>
              <a:rPr sz="800" b="0" i="0">
                <a:solidFill>
                  <a:srgbClr val="000000"/>
                </a:solidFill>
                <a:latin typeface="Arial"/>
              </a:rPr>
              <a:t> per share (median of EV/EBITDA, EV/EBIT and P/E-based values)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Scenarios: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bear NOK 208 / base NOK 293 / bull NOK 420; probability-weighted NOK 303.68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12-month target price NOK 308.50: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fair value NOK 293.47 (valued at 23.09.2026) rolled forward at the 7.7% cost of equity less NOK 7.60 dividend; expected total return +63%, rating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831336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Valuation summary – Football field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078224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" y="4142232"/>
            <a:ext cx="38862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212436"/>
            <a:ext cx="3794760" cy="19444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1627632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valuation – Sensitivity analysis (value per share)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1874519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0288" y="1938528"/>
          <a:ext cx="5257795" cy="1719072"/>
        </p:xfrm>
        <a:graphic>
          <a:graphicData uri="http://schemas.openxmlformats.org/drawingml/2006/table">
            <a:tbl>
              <a:tblPr/>
              <a:tblGrid>
                <a:gridCol w="1234440"/>
                <a:gridCol w="574765"/>
                <a:gridCol w="574765"/>
                <a:gridCol w="574765"/>
                <a:gridCol w="574765"/>
                <a:gridCol w="574765"/>
                <a:gridCol w="574765"/>
                <a:gridCol w="574765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Terminal growth \ 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5.11%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5.61%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6.11%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6.61%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7.11%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7.61%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8.11%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378.1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325.7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284.2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250.4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222.4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198.8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178.7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405.1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346.4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300.3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263.3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233.0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207.6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186.1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436.2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369.6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318.3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277.6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244.5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217.1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194.0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472.3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396.1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338.5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293.5</a:t>
                      </a:r>
                    </a:p>
                  </a:txBody>
                  <a:tcPr marL="36576" marR="36576" marT="9144" marB="9144" anchor="ctr">
                    <a:solidFill>
                      <a:srgbClr val="81B0C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257.2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227.5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202.7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514.6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426.6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361.4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311.1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271.3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238.8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212.0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565.1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461.9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387.3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330.9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286.8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251.3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222.2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626.2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503.4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417.2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353.3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304.1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265.0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233.3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90288" y="3840480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Multiple valuation and what the price implies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087368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90288" y="4151376"/>
            <a:ext cx="5257800" cy="2075687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08575" y="4187952"/>
            <a:ext cx="5221224" cy="20025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Trading at a discount: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10.4x EV/EBITDA vs 11.2x peer median (8% discount)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Earnings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14.7x trailing P/E vs 33.0x for peers (-55%); 13.6x vs 12.7x on next-twelve-month consensus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Versus own history: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10.4x trailing EV/EBITDA is above the 3.5-year median of 9.1x (64% of weeks were cheaper)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EV/EBITDA-implied value: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NOK 215.15 at the peer median of 11.2x (range 192–253 across the 25th–75th percentile)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WACC 8.3%</a:t>
            </a:r>
            <a:r>
              <a:rPr sz="800" b="0" i="0">
                <a:solidFill>
                  <a:srgbClr val="000000"/>
                </a:solidFill>
                <a:latin typeface="Arial"/>
              </a:rPr>
              <a:t>, above our 6.6%: the price discounts our cash flows at 170bp more than we do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at our WACC the price is consistent with a 2031E EBITDA margin of 16.2% versus 20.1% in our base case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Cross-check – low agreement: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the DCF is 44% above the peer-multiple value (NOK 203.35) and our target is 37% above the consensus of 11 analysts (NOK 224.40); the recommendation rests on the DCF assumptions alone — treat the target as a hypothesis, not a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1627632"/>
            <a:ext cx="1685239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08" y="1714918"/>
            <a:ext cx="1593799" cy="206570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76688" y="4096512"/>
            <a:ext cx="1685239" cy="213055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bridge_m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4191262"/>
            <a:ext cx="1593799" cy="1941051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WACC 6.6% (3y weekly regression vs OSEBX (n=156, R2=0.15), Blume-adjusted); terminal growth 2.0%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Cost of capital and DCF build-up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WACC 6.61% and terminal growth 2.00% give a fair value of NOK 293.47 per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0175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WACC build-up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0175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387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3383280" cy="2793492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(raw)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(adjusted, used)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Equity risk premium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Size premium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Cost of equity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7.66%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(pre-tax)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4.18%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(after 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3.26%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equity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76.2%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23.8%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6.61%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4485131"/>
            <a:ext cx="33832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Beta: 3y weekly regression vs OSEBX (n=156, R2=0.15), Blume-adjusted.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Cross-check: bottom-up beta 0.72 (3 peers, unlevered median 0.47).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Size premium 0.00% (market cap USD 10.8bn).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Cost of debt: interest expense / average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280160"/>
            <a:ext cx="475487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build-up (EURm)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1527048"/>
            <a:ext cx="475488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3368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087368" y="1618488"/>
          <a:ext cx="5120634" cy="1289304"/>
        </p:xfrm>
        <a:graphic>
          <a:graphicData uri="http://schemas.openxmlformats.org/drawingml/2006/table">
            <a:tbl>
              <a:tblPr/>
              <a:tblGrid>
                <a:gridCol w="1417320"/>
                <a:gridCol w="617219"/>
                <a:gridCol w="617219"/>
                <a:gridCol w="617219"/>
                <a:gridCol w="617219"/>
                <a:gridCol w="617219"/>
                <a:gridCol w="617219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 still to come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Years to discount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Discount factor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614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87368" y="3044951"/>
          <a:ext cx="5120640" cy="2816352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Bridge to value per share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EURm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Sum of 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2,956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Terminal value (Gordon growth)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20,105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14,344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17,300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net debt (30.06.2026)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(2,826)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minority interest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(192)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14,282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Shares outstanding (m)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527.3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FX (EUR per NOK)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0.0923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Fair value per share (NOK, 23.09.2026)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293.47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x (1 + cost of equity 7.66%)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315.95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expected dividend per share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(7.60)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12-month target price (NOK, rounded)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308.50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482328" y="1280160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the share price implies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1527048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591056"/>
            <a:ext cx="2279599" cy="21488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0616" y="1627632"/>
            <a:ext cx="2243023" cy="20756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WACC: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8.32% vs our 6.61%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terminal growth: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-0.21% vs our 2.00%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2031E EBITDA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16.2% vs our 20.1%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Arial"/>
              </a:rPr>
              <a:t>Each figure solves for the one input that makes the DCF equal today's price, holding the others at the base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922776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2328" y="4169664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87607" y="395935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4233672"/>
            <a:ext cx="2279599" cy="199339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0616" y="4270248"/>
            <a:ext cx="2243023" cy="19202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Terminal value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is 83% of enterprise value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exit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12.5x EV/EBITDA vs 10.4x today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WACC − g spread: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4.61%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Net debt / EBITDA: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2.2x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Probability-weighted value of NOK 303.68 per share versus a share price of NOK 193.70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Scenario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963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7040880" cy="1234440"/>
        </p:xfrm>
        <a:graphic>
          <a:graphicData uri="http://schemas.openxmlformats.org/drawingml/2006/table">
            <a:tbl>
              <a:tblPr/>
              <a:tblGrid>
                <a:gridCol w="141732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Growth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Margin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Terminal 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Revenue CAGR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 (NOK)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vs price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7.11%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208.01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6.61%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293.47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+52%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Bull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6.11%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419.78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+117%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Probability-weighted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303.68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+57%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3081528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drives each case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328416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96328" y="311810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392424"/>
            <a:ext cx="7040880" cy="283463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438144"/>
            <a:ext cx="7004304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Bear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lower, margin 1.5pp lower, WACC +50bp; revenue CAGR 3.9%, 2031E margin 18.6%, WACC 7.1% gives NOK 208.01 (+7%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Base (50%):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Base-case drivers; revenue CAGR 5.9%, 2031E margin 20.1%, WACC 6.6% gives NOK 293.47 (+52%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Bull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Growth 2pp higher, margin 1.5pp higher, WACC -50bp; revenue CAGR 7.9%, 2031E margin 21.6%, WACC 6.1% gives NOK 419.78 (+117%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Shifts are additive to the base case: growth applies to every forecast year, the margin shift to the whole EBITDA margin path; capex and working capital follow revenue as in the 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280160"/>
            <a:ext cx="36511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Value per share by scenario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8" y="1527048"/>
            <a:ext cx="36511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1591056"/>
            <a:ext cx="40169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cenarios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40532"/>
            <a:ext cx="3870655" cy="293705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Peer group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Last-twelve-month multiples where the quarters are reported; EV on today's market cap, the latest net debt and the same lease basis as the target company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11332152" cy="237744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Mkt cap (EURm)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 (EURm)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Rev.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 (NTM)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SalMar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Salmon farming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6,742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8,706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Lerøy Seafood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Salmon farming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2,274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3,045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34.8x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Bakkafrost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Salmon farming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2,355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2,895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-4.5%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24.5%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Grieg Seafood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Salmon farming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7.1%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15.4%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11.2x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33.0x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Peer average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29.8x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27.3x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33.9x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Mowi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9,426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12,445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19.6%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13.2x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14.7x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13.6x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income basis: Mowi LTM Jun 2026; peers LTM Jun 2026 (3), FY2025 (1); n.m. = not meaningful (negative or above 60x)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through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Mowi trades at 10.4x trailing EV/EBITDA against a 3.5-year median of 9.1x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EV/EBITDA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51631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8436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is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79" y="1645920"/>
            <a:ext cx="4627297" cy="2679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P/E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33007" y="1527048"/>
            <a:ext cx="51631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hist_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18" y="1645920"/>
            <a:ext cx="4627297" cy="2679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4562856"/>
            <a:ext cx="10966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bands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809744"/>
            <a:ext cx="10966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45994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873752"/>
            <a:ext cx="11332159" cy="13533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6" y="4919472"/>
            <a:ext cx="11295583" cy="12618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EV/EBITDA: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10.4x today vs a median of 9.1x and an interquartile band of 8.4x–10.9x; 64% of weeks were cheaper. At its own median the share is worth NOK 160.31 (-17%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P/E: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13.3x today vs a median of 18.2x and an interquartile band of 10.9x–19.8x; 36% of weeks were cheaper. At its own median the share is worth NOK 272.26 (+41%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Cross-check – low agreement between the anchors: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the DCF is 44% above the peer-multiple value (NOK 203.35) and our target is 37% above the consensus of 11 analysts (NOK 224.40); the recommendation rests on the DCF assumptions alone — treat the target as a hypothesis, not a result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Each weekly close is paired with the latest fiscal year that was public at the time (75-day reporting lag), on the same lease basis as the model; net debt and the share count step once a year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Estimates vs consensus and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Our 2026E EPS of NOK 15.28 is 22% above consensus; estimate momentum is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2179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Our estimates vs consensus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2179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391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6583680" cy="1143000"/>
        </p:xfrm>
        <a:graphic>
          <a:graphicData uri="http://schemas.openxmlformats.org/drawingml/2006/table">
            <a:tbl>
              <a:tblPr/>
              <a:tblGrid>
                <a:gridCol w="1828800"/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Consensus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Analysts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Revenue 2026E (EURm)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6,350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6,385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-0.6%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5,944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Revenue 2027E (EURm)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6,834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6,871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-0.6%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6,461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7,375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EPS 2026E (NOK)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+22.3%</a:t>
                      </a:r>
                    </a:p>
                  </a:txBody>
                  <a:tcPr marL="36576" marR="36576" marT="9144" marB="9144" anchor="ctr">
                    <a:solidFill>
                      <a:srgbClr val="E3EEE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28600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EPS 2027E (NOK)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16.43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14.90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+10.3%</a:t>
                      </a:r>
                    </a:p>
                  </a:txBody>
                  <a:tcPr marL="36576" marR="36576" marT="9144" marB="9144" anchor="ctr">
                    <a:solidFill>
                      <a:srgbClr val="E3EEE9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12.79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17.28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2962656"/>
            <a:ext cx="62179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Variant view, estimate momentum and catalysts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209544"/>
            <a:ext cx="62179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739128" y="29992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273552"/>
            <a:ext cx="6583680" cy="29535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319272"/>
            <a:ext cx="6547104" cy="2862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EPS 2026E NOK 15.28 vs consensus NOK 12.50 (+22%):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we are above the 9 analysts – outside the range of estimates; 2027E +10%; our view rests on a 20.8% 2026E EBITDA margin and a 22% tax rate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Revenue 2026E EUR 6,350m vs consensus EUR 6,385m (-0.6%):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in line by construction – our growth is anchored on consensus, so the differentiated view sits in margins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Estimate momentum negative: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consensus EPS over the last 90 days 2026E -7.3%, 2027E -16.4%; 2 upward and 6 downward revisions in the last 30 days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Tension:</a:t>
            </a:r>
            <a:r>
              <a:rPr sz="819" b="0" i="0">
                <a:solidFill>
                  <a:srgbClr val="000000"/>
                </a:solidFill>
                <a:latin typeface="Arial"/>
              </a:rPr>
              <a:t> our BUY runs against falling consensus estimates – shares rarely re-rate before revisions turn, so the timing of the case depends on the next reports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19" b="1" i="0">
                <a:solidFill>
                  <a:srgbClr val="000000"/>
                </a:solidFill>
                <a:latin typeface="Arial"/>
              </a:rPr>
              <a:t>04.11.2026 – Quarterly results</a:t>
            </a:r>
            <a:r>
              <a:rPr sz="819" b="0" i="0">
                <a:solidFill>
                  <a:srgbClr val="000000"/>
                </a:solidFill>
                <a:latin typeface="Arial"/>
              </a:rPr>
              <a:t>: consensus revenue 1,600, EPS 2.39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280160"/>
            <a:ext cx="4108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moves the value – one driver at a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87768" y="1527048"/>
            <a:ext cx="4108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87768" y="1591056"/>
            <a:ext cx="44741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19" y="2219881"/>
            <a:ext cx="4327855" cy="3360068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consensus: Yahoo Finance (mean of analyst estimates), revisions over 90 days; value drivers move one input at a time with everything else at the base case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Multiples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Growth and margin explain 1% of the dispersion in peer EV/EBITDA; fundamentals justify 11.6x for Mowi against 10.4x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44805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EV/EBITDA against expected revenue growth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44805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0176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48463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ult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22" y="1645920"/>
            <a:ext cx="3895211" cy="2496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" y="4361688"/>
            <a:ext cx="44805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multiples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608575"/>
            <a:ext cx="44805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01768" y="439826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4672583"/>
            <a:ext cx="4846320" cy="15544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" y="4718303"/>
            <a:ext cx="4809744" cy="1463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On next-twelve-month consensus</a:t>
            </a:r>
            <a:r>
              <a:rPr sz="780" b="0" i="0">
                <a:solidFill>
                  <a:srgbClr val="000000"/>
                </a:solidFill>
                <a:latin typeface="Arial"/>
              </a:rPr>
              <a:t> Mowi trades at 13.6x P/E (peers 12.7x), 1.8x EV/Sales (peers 1.7x), 9.4x EV/EBITDA at the LTM margin (peers 9.6x); PEG 0.71 vs 0.38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Growth and margin explain 1% of the dispersion in peer EV/EBITDA</a:t>
            </a:r>
            <a:r>
              <a:rPr sz="780" b="0" i="0">
                <a:solidFill>
                  <a:srgbClr val="000000"/>
                </a:solidFill>
                <a:latin typeface="Arial"/>
              </a:rPr>
              <a:t> (4 peers): fundamentals justify 11.6x against the 11.2x median (+3%); the actual 10.4x leaves -11% unexplained. Evidence weak: multiples in this group are set by something the regression does not see – leverage, geography, liquidity or the cycle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Cash and payout:</a:t>
            </a:r>
            <a:r>
              <a:rPr sz="780" b="0" i="0">
                <a:solidFill>
                  <a:srgbClr val="000000"/>
                </a:solidFill>
                <a:latin typeface="Arial"/>
              </a:rPr>
              <a:t> 3.1% levered FCF yield vs -0.2% for peers; 3.9% dividend yield vs 1.9%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780" b="1" i="0">
                <a:solidFill>
                  <a:srgbClr val="000000"/>
                </a:solidFill>
                <a:latin typeface="Arial"/>
              </a:rPr>
              <a:t>Consensus EPS growth FY1:</a:t>
            </a:r>
            <a:r>
              <a:rPr sz="780" b="0" i="0">
                <a:solidFill>
                  <a:srgbClr val="000000"/>
                </a:solidFill>
                <a:latin typeface="Arial"/>
              </a:rPr>
              <a:t> +19% for Mowi vs +39% for the peer median – the growth the forward multiple is buying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280160"/>
            <a:ext cx="58457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Forward multiples and quality – consensus, calendarised to the next twelve months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7" y="1527048"/>
            <a:ext cx="58457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550407" y="1618488"/>
          <a:ext cx="6211512" cy="1664208"/>
        </p:xfrm>
        <a:graphic>
          <a:graphicData uri="http://schemas.openxmlformats.org/drawingml/2006/table">
            <a:tbl>
              <a:tblPr/>
              <a:tblGrid>
                <a:gridCol w="1325880"/>
                <a:gridCol w="512406"/>
                <a:gridCol w="786384"/>
                <a:gridCol w="512406"/>
                <a:gridCol w="512406"/>
                <a:gridCol w="512406"/>
                <a:gridCol w="512406"/>
                <a:gridCol w="512406"/>
                <a:gridCol w="512406"/>
                <a:gridCol w="512406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EV/Sales NTM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EV/EBITDA NTM*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FY0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FY1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P/E NTM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EPS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PEG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Div. yield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SalMar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+35%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Lerøy Seafood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+27%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Bakkafrost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+42%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-1.3%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Grieg Seafood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24.4x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+170%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-21.9%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9.6x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19.5x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+39%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0.38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-0.2%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Mowi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9.4x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13.6x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3.1%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550407" y="3337560"/>
            <a:ext cx="6211519" cy="2889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680" b="0" i="1">
                <a:solidFill>
                  <a:srgbClr val="4A4A4A"/>
                </a:solidFill>
                <a:latin typeface="Arial"/>
              </a:rPr>
              <a:t>* NTM revenue at the LTM EBITDA margin: Yahoo Finance carries no EBITDA consensus. FY0 = fiscal year in progress; NTM = 27% of FY to 2026-12 + the rest of the following year. EV in each company's reporting currency (market cap converted from the listing currency) with the latest net debt; FCF yield is levered, after lease payments; n.m. = negative or above the cap.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consensus: Yahoo Finance mean estimates; regression: OLS with an intercept over the peers shown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