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251960"/>
            <a:ext cx="12191695" cy="2606040"/>
          </a:xfrm>
          <a:prstGeom prst="rect">
            <a:avLst/>
          </a:prstGeom>
          <a:solidFill>
            <a:srgbClr val="0A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68680" y="77724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mbria"/>
              </a:rPr>
              <a:t>Equity Research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29844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Arial"/>
              </a:rPr>
              <a:t>Oscar Schjelderup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16152" y="2487168"/>
            <a:ext cx="1024128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16152" y="26974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Cambria"/>
              </a:rPr>
              <a:t>Mowi – BUY: +46% to our NOK 295.50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" y="41605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mbria"/>
              </a:rPr>
              <a:t>Initiation of coverage – BUY, target price NOK 295.50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56692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21.09.2026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Arial"/>
              </a:rPr>
              <a:t>Private and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29768" y="329184"/>
            <a:ext cx="5486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29768" y="411480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Analyst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914400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Presenting a model-driven investment case on Mowi ASA.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" y="1600200"/>
            <a:ext cx="1417320" cy="173736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8F9DA6"/>
                </a:solidFill>
                <a:latin typeface="Cambria"/>
              </a:rPr>
              <a:t>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" y="3383280"/>
            <a:ext cx="3108960" cy="310896"/>
          </a:xfrm>
          <a:prstGeom prst="rect">
            <a:avLst/>
          </a:prstGeom>
          <a:solidFill>
            <a:srgbClr val="81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 i="0">
                <a:solidFill>
                  <a:srgbClr val="FFFFFF"/>
                </a:solidFill>
                <a:latin typeface="Arial"/>
              </a:rPr>
              <a:t>Oscar Schjelderup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9967" y="1737360"/>
            <a:ext cx="3840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Arial"/>
              </a:rPr>
              <a:t>University: Copenhagen Business School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Arial"/>
              </a:rPr>
              <a:t>Year of study: 2nd year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Arial"/>
              </a:rPr>
              <a:t>Experience: HA Invest member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#1 The equity story of Mowi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Mowi ASA – Farm Products in Norway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" y="1207008"/>
            <a:ext cx="11332159" cy="310896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0" bIns="0" wrap="square"/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5.0% revenue CAGR, 20.9% EBITDA margin and 2.2x net debt/EBITDA — market cap EUR 9.9bn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627632"/>
            <a:ext cx="3246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Company snapshot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9768" y="1874519"/>
            <a:ext cx="324611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767328" y="1664208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" y="1938528"/>
            <a:ext cx="3611880" cy="1874519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75488" y="1993392"/>
            <a:ext cx="3520440" cy="178307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00000"/>
                </a:solidFill>
                <a:latin typeface="Arial"/>
              </a:rPr>
              <a:t>Sector: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Farm Products</a:t>
            </a:r>
          </a:p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00000"/>
                </a:solidFill>
                <a:latin typeface="Arial"/>
              </a:rPr>
              <a:t>Footprint: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Norway</a:t>
            </a:r>
          </a:p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00000"/>
                </a:solidFill>
                <a:latin typeface="Arial"/>
              </a:rPr>
              <a:t>Business model: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Farm Products</a:t>
            </a:r>
          </a:p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00000"/>
                </a:solidFill>
                <a:latin typeface="Arial"/>
              </a:rPr>
              <a:t>Scale: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Employees: 12,174 | Revenue 2025A: EUR 5,689m</a:t>
            </a:r>
          </a:p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00000"/>
                </a:solidFill>
                <a:latin typeface="Arial"/>
              </a:rPr>
              <a:t>Market cap: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EUR 9,869m | EV EUR 12,725m | reports in EUR, trades in NOK</a:t>
            </a:r>
          </a:p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00000"/>
                </a:solidFill>
                <a:latin typeface="Arial"/>
              </a:rPr>
              <a:t>Share price: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NOK 202.00 | 52w range 179.4–245.8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1627632"/>
            <a:ext cx="3246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Investment highlights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88536" y="1874519"/>
            <a:ext cx="32461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7626096" y="1664208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88536" y="1938528"/>
            <a:ext cx="3611880" cy="1874519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06824" y="1975104"/>
            <a:ext cx="3575304" cy="180136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Consistent growth: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revenue compounded at 5.0% p.a. over 2022–2025, reaching EUR 5,689m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Margin profile: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pre-IFRS 16 EBITDA margin of 20.9% in 2025A (down from 24.9% in 2022A), EBIT margin 16.5%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Cash generative: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unlevered FCF of EUR 634m in 2025A, 53% of EBITDA, ROIC 11%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Balance sheet: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net debt of EUR 2,662m equals 2.2x EBITDA, a moderate leverage level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7304" y="1627632"/>
            <a:ext cx="3246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Management team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147304" y="1874519"/>
            <a:ext cx="32461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1484864" y="1664208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47304" y="1938528"/>
            <a:ext cx="3611880" cy="1874519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284464" y="2048256"/>
            <a:ext cx="329184" cy="329184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IV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95944" y="2029968"/>
            <a:ext cx="29718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000000"/>
                </a:solidFill>
                <a:latin typeface="Arial"/>
              </a:rPr>
              <a:t>Ivan Vindheim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CEO</a:t>
            </a:r>
          </a:p>
        </p:txBody>
      </p:sp>
      <p:sp>
        <p:nvSpPr>
          <p:cNvPr id="22" name="Oval 21"/>
          <p:cNvSpPr/>
          <p:nvPr/>
        </p:nvSpPr>
        <p:spPr>
          <a:xfrm>
            <a:off x="8284464" y="2478024"/>
            <a:ext cx="329184" cy="329184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KE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2459736"/>
            <a:ext cx="29718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000000"/>
                </a:solidFill>
                <a:latin typeface="Arial"/>
              </a:rPr>
              <a:t>Kristian Ellingsen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CFO</a:t>
            </a:r>
          </a:p>
        </p:txBody>
      </p:sp>
      <p:sp>
        <p:nvSpPr>
          <p:cNvPr id="24" name="Oval 23"/>
          <p:cNvSpPr/>
          <p:nvPr/>
        </p:nvSpPr>
        <p:spPr>
          <a:xfrm>
            <a:off x="8284464" y="2907791"/>
            <a:ext cx="329184" cy="329184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DC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95944" y="2889503"/>
            <a:ext cx="29718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000000"/>
                </a:solidFill>
                <a:latin typeface="Arial"/>
              </a:rPr>
              <a:t>Catarina Martins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Chief Sustainability Officer &amp; CTO</a:t>
            </a:r>
          </a:p>
        </p:txBody>
      </p:sp>
      <p:sp>
        <p:nvSpPr>
          <p:cNvPr id="26" name="Oval 25"/>
          <p:cNvSpPr/>
          <p:nvPr/>
        </p:nvSpPr>
        <p:spPr>
          <a:xfrm>
            <a:off x="8284464" y="3337559"/>
            <a:ext cx="329184" cy="329184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OB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95944" y="3319271"/>
            <a:ext cx="29718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000000"/>
                </a:solidFill>
                <a:latin typeface="Arial"/>
              </a:rPr>
              <a:t>Ola Brattvoll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COO of Sales &amp; Marketing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3931920"/>
            <a:ext cx="3246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Revenue and EBITDA (EURm)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29768" y="4178808"/>
            <a:ext cx="324611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767328" y="396849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" y="4242816"/>
            <a:ext cx="3611880" cy="210312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rev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036" y="4288536"/>
            <a:ext cx="2893342" cy="201168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288536" y="3931920"/>
            <a:ext cx="3246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Share price vs OSEBX (5 years)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288536" y="4178808"/>
            <a:ext cx="32461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7626096" y="396849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88536" y="4242816"/>
            <a:ext cx="3611880" cy="210312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rel_per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725" y="4288536"/>
            <a:ext cx="3473500" cy="201168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147304" y="3931920"/>
            <a:ext cx="3246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Key ratios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147304" y="4178808"/>
            <a:ext cx="32461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11484864" y="396849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47304" y="4242816"/>
            <a:ext cx="3611880" cy="210312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8193024" y="4315968"/>
          <a:ext cx="3520440" cy="1755648"/>
        </p:xfrm>
        <a:graphic>
          <a:graphicData uri="http://schemas.openxmlformats.org/drawingml/2006/table">
            <a:tbl>
              <a:tblPr/>
              <a:tblGrid>
                <a:gridCol w="1234440"/>
                <a:gridCol w="457200"/>
                <a:gridCol w="457200"/>
                <a:gridCol w="457200"/>
                <a:gridCol w="457200"/>
                <a:gridCol w="457200"/>
              </a:tblGrid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2023A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2024A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2025A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Revenue growth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11.6%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11.5%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EBITDA margin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21.9%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17.6%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20.9%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20.8%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20.6%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EBIT margin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18.1%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13.5%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16.5%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16.7%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16.6%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FCF margin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6.7%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11.1%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5.1%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7.1%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ROIC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8.5%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9.4%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10.9%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Net debt / EBITDA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1.5x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1.9x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2.2x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Payout ratio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cxnSp>
        <p:nvCxnSpPr>
          <p:cNvPr id="43" name="Connector 42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#2 Market overview and peer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Market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Mowi versus its peer group: growth, profitability and the drivers behind 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280160"/>
            <a:ext cx="329184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Revenue growth by year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9768" y="1527048"/>
            <a:ext cx="32918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813048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" y="1591056"/>
            <a:ext cx="3657600" cy="208483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arke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22" y="1636776"/>
            <a:ext cx="3325491" cy="1993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88536" y="1280160"/>
            <a:ext cx="329184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Margin development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88536" y="1527048"/>
            <a:ext cx="32918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671815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88536" y="1591056"/>
            <a:ext cx="3657600" cy="208483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market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4255" y="1664457"/>
            <a:ext cx="3566160" cy="193802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9768" y="3794760"/>
            <a:ext cx="329184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Unlevered FCF and NOPAT (EURm)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29768" y="4041648"/>
            <a:ext cx="32918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813048" y="38313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4105656"/>
            <a:ext cx="3657600" cy="208483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market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331" y="4151376"/>
            <a:ext cx="3132473" cy="19933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288536" y="3794760"/>
            <a:ext cx="329184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Returns on capital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288536" y="4041648"/>
            <a:ext cx="32918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7671815" y="38313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88536" y="4105656"/>
            <a:ext cx="3657600" cy="208483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market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4590" y="4151376"/>
            <a:ext cx="3325491" cy="199339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147304" y="1280160"/>
            <a:ext cx="3614623" cy="246888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Opportunities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47304" y="1527048"/>
            <a:ext cx="3614623" cy="1316736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165592" y="1563624"/>
            <a:ext cx="3578047" cy="12435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3154"/>
                </a:solidFill>
                <a:latin typeface="Arial"/>
              </a:rPr>
              <a:t>Growth runway:</a:t>
            </a:r>
            <a:r>
              <a:rPr sz="850" b="0" i="0">
                <a:solidFill>
                  <a:srgbClr val="003154"/>
                </a:solidFill>
                <a:latin typeface="Arial"/>
              </a:rPr>
              <a:t> consensus expects 11.5% revenue growth in 2026E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3154"/>
                </a:solidFill>
                <a:latin typeface="Arial"/>
              </a:rPr>
              <a:t>Operating leverage:</a:t>
            </a:r>
            <a:r>
              <a:rPr sz="850" b="0" i="0">
                <a:solidFill>
                  <a:srgbClr val="003154"/>
                </a:solidFill>
                <a:latin typeface="Arial"/>
              </a:rPr>
              <a:t> every 1pp of EBITDA margin is worth roughly EUR 80m of EBITDA in 2031E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47304" y="2980944"/>
            <a:ext cx="3614623" cy="24688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Disruption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47304" y="3227832"/>
            <a:ext cx="3614623" cy="1316736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165592" y="3264408"/>
            <a:ext cx="3578047" cy="12435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3154"/>
                </a:solidFill>
                <a:latin typeface="Arial"/>
              </a:rPr>
              <a:t>Business model shifts</a:t>
            </a:r>
            <a:r>
              <a:rPr sz="850" b="0" i="0">
                <a:solidFill>
                  <a:srgbClr val="003154"/>
                </a:solidFill>
                <a:latin typeface="Arial"/>
              </a:rPr>
              <a:t> in the sector may change the competitive set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47304" y="4681727"/>
            <a:ext cx="3614623" cy="246888"/>
          </a:xfrm>
          <a:prstGeom prst="rect">
            <a:avLst/>
          </a:prstGeom>
          <a:solidFill>
            <a:srgbClr val="8FC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Threats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47304" y="4928615"/>
            <a:ext cx="3614623" cy="1316736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165592" y="4965191"/>
            <a:ext cx="3578047" cy="12435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3154"/>
                </a:solidFill>
                <a:latin typeface="Arial"/>
              </a:rPr>
              <a:t>Macro:</a:t>
            </a:r>
            <a:r>
              <a:rPr sz="850" b="0" i="0">
                <a:solidFill>
                  <a:srgbClr val="003154"/>
                </a:solidFill>
                <a:latin typeface="Arial"/>
              </a:rPr>
              <a:t> consumer spending, interest rates and FX can move revenue and the discount rate simultaneously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#3 Historical analysis and forecasts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Financials and estimates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Mowi financials, pre-IFRS 16 basis (EURm)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29768" y="1280160"/>
          <a:ext cx="8549633" cy="2029968"/>
        </p:xfrm>
        <a:graphic>
          <a:graphicData uri="http://schemas.openxmlformats.org/drawingml/2006/table">
            <a:tbl>
              <a:tblPr/>
              <a:tblGrid>
                <a:gridCol w="1051560"/>
                <a:gridCol w="681643"/>
                <a:gridCol w="681643"/>
                <a:gridCol w="681643"/>
                <a:gridCol w="681643"/>
                <a:gridCol w="681643"/>
                <a:gridCol w="681643"/>
                <a:gridCol w="681643"/>
                <a:gridCol w="681643"/>
                <a:gridCol w="681643"/>
                <a:gridCol w="681643"/>
                <a:gridCol w="681643"/>
              </a:tblGrid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4">
                  <a:txBody>
                    <a:bodyPr wrap="none"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HISTORICAL</a:t>
                      </a:r>
                    </a:p>
                  </a:txBody>
                  <a:tcPr marL="36576" marR="36576" marT="9144" marB="9144" anchor="ctr">
                    <a:solidFill>
                      <a:srgbClr val="8F9DA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8F9DA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8F9DA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8F9DA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7">
                  <a:txBody>
                    <a:bodyPr wrap="none"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FORECAST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EURm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2022A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2023A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2024A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2025A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2028E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2029E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2030E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2031E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TV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4,907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5,478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5,566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5,689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6,345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6,836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7,267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7,621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7,883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8,041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8,202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11.6%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1.6%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11.5%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7.7%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6.3%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4.9%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2.0%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2.0%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1,220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1,198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979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1,189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1,318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1,412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1,491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1,554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1,597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1,618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1,651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Margin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24.9%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21.9%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17.6%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20.9%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20.8%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20.6%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20.5%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20.4%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20.3%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20.1%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20.1%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EBIT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1,033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991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753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939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1,059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1,132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1,194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1,242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1,275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1,290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1,315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Margin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21.0%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18.1%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13.5%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16.5%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16.7%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16.6%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16.4%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16.3%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16.2%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16.0%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16.0%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NOPAT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797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883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931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969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1,006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1,026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Margin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16.5%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8.8%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14.0%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13.0%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12.9%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12.8%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12.7%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12.6%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12.5%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12.5%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Unlevered FCF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634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591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700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911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930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FCF margin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3.5%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6.7%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11.1%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5.1%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7.1%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8.1%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9.2%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10.3%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11.3%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11.3%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9768" y="3447287"/>
          <a:ext cx="4160520" cy="1014984"/>
        </p:xfrm>
        <a:graphic>
          <a:graphicData uri="http://schemas.openxmlformats.org/drawingml/2006/table">
            <a:tbl>
              <a:tblPr/>
              <a:tblGrid>
                <a:gridCol w="1051560"/>
                <a:gridCol w="777240"/>
                <a:gridCol w="777240"/>
                <a:gridCol w="777240"/>
                <a:gridCol w="777240"/>
              </a:tblGrid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Multiples (at current price)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2025A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2028E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EV/Sales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2.2x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2.0x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1.8x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EV/EBITDA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10.7x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9.7x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9.0x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8.5x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EV/EBIT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13.6x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12.0x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11.2x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10.7x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P/E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13.6x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13.3x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12.3x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11.6x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FCF yield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6.4%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3.3%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4.9%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6.0%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818888" y="3447287"/>
            <a:ext cx="4160520" cy="1014983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64607" y="3465575"/>
            <a:ext cx="4069080" cy="1014983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1" i="0">
                <a:solidFill>
                  <a:srgbClr val="000000"/>
                </a:solidFill>
                <a:latin typeface="Arial"/>
              </a:rPr>
              <a:t>Consensus</a:t>
            </a:r>
            <a:r>
              <a:rPr sz="750" b="0" i="0">
                <a:solidFill>
                  <a:srgbClr val="000000"/>
                </a:solidFill>
                <a:latin typeface="Arial"/>
              </a:rPr>
              <a:t> (11 analysts)</a:t>
            </a:r>
          </a:p>
          <a:p>
            <a:pPr algn="l">
              <a:lnSpc>
                <a:spcPct val="110000"/>
              </a:lnSpc>
            </a:pPr>
            <a:r>
              <a:rPr sz="750" b="0" i="0">
                <a:solidFill>
                  <a:srgbClr val="000000"/>
                </a:solidFill>
                <a:latin typeface="Arial"/>
              </a:rPr>
              <a:t>Target: NOK 223.96 (range 193–247)</a:t>
            </a:r>
          </a:p>
          <a:p>
            <a:pPr algn="l">
              <a:lnSpc>
                <a:spcPct val="110000"/>
              </a:lnSpc>
            </a:pPr>
            <a:r>
              <a:rPr sz="750" b="0" i="0">
                <a:solidFill>
                  <a:srgbClr val="000000"/>
                </a:solidFill>
                <a:latin typeface="Arial"/>
              </a:rPr>
              <a:t>Ratings: 8 buy / 4 hold / 0 sell</a:t>
            </a:r>
          </a:p>
          <a:p>
            <a:pPr algn="l">
              <a:lnSpc>
                <a:spcPct val="110000"/>
              </a:lnSpc>
            </a:pPr>
            <a:r>
              <a:rPr sz="750" b="1" i="0">
                <a:solidFill>
                  <a:srgbClr val="000000"/>
                </a:solidFill>
                <a:latin typeface="Arial"/>
              </a:rPr>
              <a:t>Engine:</a:t>
            </a:r>
            <a:r>
              <a:rPr sz="750" b="0" i="0">
                <a:solidFill>
                  <a:srgbClr val="000000"/>
                </a:solidFill>
                <a:latin typeface="Arial"/>
              </a:rPr>
              <a:t> BUY, TP NOK 295.50 (+46%)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4645151"/>
            <a:ext cx="854964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Forecast drivers (edit them in the case config)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29768" y="4892040"/>
            <a:ext cx="854964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9768" y="5001767"/>
          <a:ext cx="6675120" cy="1152144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164592">
                <a:tc>
                  <a:txBody>
                    <a:bodyPr wrap="non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Forecast drivers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2028E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2029E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2030E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2031E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4592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Revenue growth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11.5%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4.9%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164592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EBITDA margin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20.8%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20.6%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20.5%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20.4%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20.3%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20.1%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4592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D&amp;A % of revenue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4592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Capex % of revenue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6.9%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6.3%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5.8%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5.3%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4.8%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4.3%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4592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Net working capital % of revenue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49.5%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49.5%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49.5%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49.5%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49.5%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49.5%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4592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Tax rate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22.0%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22.0%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22.0%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22.0%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22.0%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22.0%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208008" y="1234439"/>
            <a:ext cx="2553919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003255"/>
                </a:solidFill>
                <a:latin typeface="Arial"/>
              </a:rPr>
              <a:t>Financial commentary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208008" y="1508760"/>
            <a:ext cx="255391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208008" y="1554480"/>
            <a:ext cx="2553919" cy="469087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5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Mowi grew revenue by 2.2% in 2025A</a:t>
            </a:r>
            <a:r>
              <a:rPr sz="850" b="0" i="0">
                <a:solidFill>
                  <a:srgbClr val="000000"/>
                </a:solidFill>
                <a:latin typeface="Arial"/>
              </a:rPr>
              <a:t> to EUR 5,689m, with pre-IFRS 16 EBITDA of EUR 1,189m (20.9% margin)</a:t>
            </a:r>
          </a:p>
          <a:p>
            <a:pPr marL="128016" indent="-128016">
              <a:lnSpc>
                <a:spcPct val="105000"/>
              </a:lnSpc>
              <a:spcAft>
                <a:spcPts val="5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We forecast 2026E revenue of EUR 6,345m (+11.5%)</a:t>
            </a:r>
            <a:r>
              <a:rPr sz="850" b="0" i="0">
                <a:solidFill>
                  <a:srgbClr val="000000"/>
                </a:solidFill>
                <a:latin typeface="Arial"/>
              </a:rPr>
              <a:t>, anchored on consensus (8 analysts), fading to 2.0% terminal growth by 2031E</a:t>
            </a:r>
          </a:p>
          <a:p>
            <a:pPr marL="128016" indent="-128016">
              <a:lnSpc>
                <a:spcPct val="105000"/>
              </a:lnSpc>
              <a:spcAft>
                <a:spcPts val="5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EBITDA margin path: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20.8% in 2026E to 20.1% in 2031E; D&amp;A 4.1% and capex 6.9% normalising to 4.3% of revenue; tax rate 22%</a:t>
            </a:r>
          </a:p>
          <a:p>
            <a:pPr marL="128016" indent="-128016">
              <a:lnSpc>
                <a:spcPct val="105000"/>
              </a:lnSpc>
              <a:spcAft>
                <a:spcPts val="5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Unlevered FCF</a:t>
            </a:r>
            <a:r>
              <a:rPr sz="850" b="0" i="0">
                <a:solidFill>
                  <a:srgbClr val="000000"/>
                </a:solidFill>
                <a:latin typeface="Arial"/>
              </a:rPr>
              <a:t> rises from EUR 325m to EUR 911m over the forecast period (11.3% FCF margin in 2031E)</a:t>
            </a:r>
          </a:p>
          <a:p>
            <a:pPr marL="128016" indent="-128016">
              <a:lnSpc>
                <a:spcPct val="105000"/>
              </a:lnSpc>
              <a:spcAft>
                <a:spcPts val="5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Street view: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consensus target of NOK 223.96 across 11 analysts (+11% vs current price)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estimates; peer multiples on last reported fiscal year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#4 Valuation and concluding thoughts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Valuation and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We recommend a BUY. Our 12-month target price of NOK 295.50 implies +46% upside and a +49% total return including dividend; 9.7x 2026E EV/EBITDA.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" y="1207008"/>
            <a:ext cx="11332159" cy="310896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0" bIns="0" wrap="square"/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DCF fair value NOK 280.32, peer multiples n.a., scenario-weighted NOK 290.04 versus a share price of NOK 202.00 —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627632"/>
            <a:ext cx="388620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BUY – 12m TP NOK 295.50 · medium agreement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9768" y="1874519"/>
            <a:ext cx="388620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29768" y="1938528"/>
            <a:ext cx="3886200" cy="1691640"/>
          </a:xfrm>
          <a:prstGeom prst="rect">
            <a:avLst/>
          </a:prstGeom>
          <a:solidFill>
            <a:srgbClr val="EDEDED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8056" y="1975104"/>
            <a:ext cx="3849624" cy="16459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DCF value of NOK 280.32 per share</a:t>
            </a:r>
            <a:r>
              <a:rPr sz="800" b="0" i="0">
                <a:solidFill>
                  <a:srgbClr val="000000"/>
                </a:solidFill>
                <a:latin typeface="Arial"/>
              </a:rPr>
              <a:t> (WACC 6.6%, terminal growth 2.0%); terminal value is 82% of EV, implying 12.4x exit EV/EBITDA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Scenarios: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bear NOK 199 / base NOK 280 / bull NOK 401; probability-weighted NOK 290.04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12-month target price NOK 295.50: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fair value NOK 280.32 rolled forward at the 7.7% cost of equity less NOK 6.08 dividend; expected total return +49%, rating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3831336"/>
            <a:ext cx="388620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Valuation summary – Football field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9768" y="4078224"/>
            <a:ext cx="388620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29768" y="4142232"/>
            <a:ext cx="388620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footb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502" y="4187952"/>
            <a:ext cx="3786730" cy="199339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90288" y="1627632"/>
            <a:ext cx="525780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DCF valuation – Sensitivity analysis (value per share)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90288" y="1874519"/>
            <a:ext cx="525780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90288" y="1938528"/>
          <a:ext cx="5257795" cy="1719072"/>
        </p:xfrm>
        <a:graphic>
          <a:graphicData uri="http://schemas.openxmlformats.org/drawingml/2006/table">
            <a:tbl>
              <a:tblPr/>
              <a:tblGrid>
                <a:gridCol w="1234440"/>
                <a:gridCol w="574765"/>
                <a:gridCol w="574765"/>
                <a:gridCol w="574765"/>
                <a:gridCol w="574765"/>
                <a:gridCol w="574765"/>
                <a:gridCol w="574765"/>
                <a:gridCol w="574765"/>
              </a:tblGrid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Terminal growth \ WACC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5.15%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5.65%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6.15%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6.65%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7.15%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7.65%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8.15%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FFFFFF"/>
                          </a:solidFill>
                          <a:latin typeface="Arial"/>
                        </a:rPr>
                        <a:t>1.25%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364.0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313.2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272.8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239.9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212.7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189.7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170.1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FFFFFF"/>
                          </a:solidFill>
                          <a:latin typeface="Arial"/>
                        </a:rPr>
                        <a:t>1.50%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389.5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332.6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288.0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252.1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222.6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197.9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177.0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FFFFFF"/>
                          </a:solidFill>
                          <a:latin typeface="Arial"/>
                        </a:rPr>
                        <a:t>1.75%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418.7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354.5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304.9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265.5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233.4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206.8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184.4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2.00%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452.6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379.4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323.8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280.3</a:t>
                      </a:r>
                    </a:p>
                  </a:txBody>
                  <a:tcPr marL="36576" marR="36576" marT="9144" marB="9144" anchor="ctr">
                    <a:solidFill>
                      <a:srgbClr val="81B0C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245.3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216.5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192.4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FFFFFF"/>
                          </a:solidFill>
                          <a:latin typeface="Arial"/>
                        </a:rPr>
                        <a:t>2.25%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492.3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407.9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345.2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296.8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258.4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227.1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201.1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FFFFFF"/>
                          </a:solidFill>
                          <a:latin typeface="Arial"/>
                        </a:rPr>
                        <a:t>2.50%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539.5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441.0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369.5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315.4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272.9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238.7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210.6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FFFFFF"/>
                          </a:solidFill>
                          <a:latin typeface="Arial"/>
                        </a:rPr>
                        <a:t>2.75%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596.6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479.8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397.4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336.2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289.0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251.5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220.9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590288" y="3840480"/>
            <a:ext cx="525780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Multiple valuation and what the price implies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90288" y="4087368"/>
            <a:ext cx="525780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590288" y="4151376"/>
            <a:ext cx="5257800" cy="2075687"/>
          </a:xfrm>
          <a:prstGeom prst="rect">
            <a:avLst/>
          </a:prstGeom>
          <a:solidFill>
            <a:srgbClr val="EDEDED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08575" y="4187952"/>
            <a:ext cx="5221224" cy="20025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Versus own history: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10.6x trailing EV/EBITDA is above the 3.5-year median of 9.1x (68% of weeks were cheaper)</a:t>
            </a:r>
          </a:p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No peer group configured.</a:t>
            </a:r>
            <a:r>
              <a:rPr sz="800" b="0" i="0">
                <a:solidFill>
                  <a:srgbClr val="000000"/>
                </a:solidFill>
                <a:latin typeface="Arial"/>
              </a:rPr>
              <a:t> Add tickers under peers: in configs/MOWI.OL.yaml to enable trading comparables and the multiple-implied valuation</a:t>
            </a:r>
          </a:p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Consensus cross-check: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the street's mean target of NOK 223.96 (+11%) versus our NOK 295.50</a:t>
            </a:r>
          </a:p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Market-implied WACC 7.9%</a:t>
            </a:r>
            <a:r>
              <a:rPr sz="800" b="0" i="0">
                <a:solidFill>
                  <a:srgbClr val="000000"/>
                </a:solidFill>
                <a:latin typeface="Arial"/>
              </a:rPr>
              <a:t>, above our 6.6%: the price discounts our cash flows at 129bp more than we do</a:t>
            </a:r>
          </a:p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Market-implied margin: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at our WACC the price is consistent with a 2031E EBITDA margin of 17.0% versus 20.1% in our base case</a:t>
            </a:r>
          </a:p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Cross-check – medium agreement: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our target is 32% above the consensus of 11 analysts (NOK 223.96); review the growth, margin and WACC assumptions before relying on the target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76688" y="1627632"/>
            <a:ext cx="1685239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scen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2408" y="1714918"/>
            <a:ext cx="1593799" cy="206570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10076688" y="4096512"/>
            <a:ext cx="1685239" cy="2130551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bridge_m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2408" y="4191262"/>
            <a:ext cx="1593799" cy="1941051"/>
          </a:xfrm>
          <a:prstGeom prst="rect">
            <a:avLst/>
          </a:prstGeom>
        </p:spPr>
      </p:pic>
      <p:cxnSp>
        <p:nvCxnSpPr>
          <p:cNvPr id="25" name="Connector 24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estimates; WACC 6.6% (3y weekly regression vs OSEBX (n=156, R2=0.16), Blume-adjusted); terminal growth 2.0%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Appendix #4.1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Cost of capital and DCF build-up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WACC 6.65% and terminal growth 2.00% give a fair value of NOK 280.32 per share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280160"/>
            <a:ext cx="30175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WACC build-up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9768" y="1527048"/>
            <a:ext cx="30175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538728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9768" y="1618488"/>
          <a:ext cx="3383280" cy="2793492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</a:tblGrid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Risk-free rate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3.80%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Beta (raw)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0.66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Beta (adjusted, used)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0.77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Equity risk premium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5.00%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Size premium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0.00%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Cost of equity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7.66%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Cost of debt (pre-tax)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4.18%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Tax rate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22.0%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Cost of debt (after tax)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3.26%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Weight of equity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77.0%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Weight of debt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23.0%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WACC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6.65%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29768" y="4485131"/>
            <a:ext cx="3383280" cy="10972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 i="1">
                <a:solidFill>
                  <a:srgbClr val="4A4A4A"/>
                </a:solidFill>
                <a:latin typeface="Arial"/>
              </a:rPr>
              <a:t>Beta: 3y weekly regression vs OSEBX (n=156, R2=0.16), Blume-adjusted.</a:t>
            </a:r>
          </a:p>
          <a:p>
            <a:pPr algn="l">
              <a:lnSpc>
                <a:spcPct val="110000"/>
              </a:lnSpc>
            </a:pPr>
            <a:r>
              <a:rPr sz="750" b="0" i="1">
                <a:solidFill>
                  <a:srgbClr val="4A4A4A"/>
                </a:solidFill>
                <a:latin typeface="Arial"/>
              </a:rPr>
              <a:t>Size premium 0.00% (market cap USD 11.4bn).</a:t>
            </a:r>
          </a:p>
          <a:p>
            <a:pPr algn="l">
              <a:lnSpc>
                <a:spcPct val="110000"/>
              </a:lnSpc>
            </a:pPr>
            <a:r>
              <a:rPr sz="750" b="0" i="1">
                <a:solidFill>
                  <a:srgbClr val="4A4A4A"/>
                </a:solidFill>
                <a:latin typeface="Arial"/>
              </a:rPr>
              <a:t>Cost of debt: interest expense / average debt.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87368" y="1280160"/>
            <a:ext cx="475487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DCF build-up (EURm)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87368" y="1527048"/>
            <a:ext cx="475488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8933688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087368" y="1618488"/>
          <a:ext cx="5120634" cy="859536"/>
        </p:xfrm>
        <a:graphic>
          <a:graphicData uri="http://schemas.openxmlformats.org/drawingml/2006/table">
            <a:tbl>
              <a:tblPr/>
              <a:tblGrid>
                <a:gridCol w="1417320"/>
                <a:gridCol w="617219"/>
                <a:gridCol w="617219"/>
                <a:gridCol w="617219"/>
                <a:gridCol w="617219"/>
                <a:gridCol w="617219"/>
                <a:gridCol w="617219"/>
              </a:tblGrid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2028E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2029E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2030E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2031E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Unlevered FCF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591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700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911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Discount factor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0.938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0.879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0.824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0.773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0.725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0.680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PV of FCF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619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087368" y="2615184"/>
          <a:ext cx="5120640" cy="2816352"/>
        </p:xfrm>
        <a:graphic>
          <a:graphicData uri="http://schemas.openxmlformats.org/drawingml/2006/table">
            <a:tbl>
              <a:tblPr/>
              <a:tblGrid>
                <a:gridCol w="3931920"/>
                <a:gridCol w="1188720"/>
              </a:tblGrid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Bridge to value per share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EURm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Sum of PV of FCF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2,965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Terminal value (Gordon growth)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19,993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PV of terminal value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13,587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Enterprise value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16,552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Less: net debt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(2,662)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Less: minority interest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(194)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Equity value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13,696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Shares outstanding (m)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527.3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FX (EUR per NOK)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0.0927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Fair value per share (NOK)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280.32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x (1 + cost of equity 7.66%)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301.79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Less: expected dividend per share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(6.08)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12-month target price (NOK, rounded)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295.50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482328" y="1280160"/>
            <a:ext cx="191383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What the share price implies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482328" y="1527048"/>
            <a:ext cx="19138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1487607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82328" y="1591056"/>
            <a:ext cx="2279599" cy="214884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500616" y="1627632"/>
            <a:ext cx="2243023" cy="20756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Implied WACC: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7.94% vs our 6.65%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Implied terminal growth: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0.29% vs our 2.00%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Implied 2031E EBITDA margin: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17.0% vs our 20.1%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0" i="0">
                <a:solidFill>
                  <a:srgbClr val="000000"/>
                </a:solidFill>
                <a:latin typeface="Arial"/>
              </a:rPr>
              <a:t>Each figure solves for the one input that makes the DCF equal today's price, holding the others at the base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82328" y="3922776"/>
            <a:ext cx="191383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Key checks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482328" y="4169664"/>
            <a:ext cx="19138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11487607" y="3959352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82328" y="4233672"/>
            <a:ext cx="2279599" cy="199339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500616" y="4270248"/>
            <a:ext cx="2243023" cy="192023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Terminal value</a:t>
            </a:r>
            <a:r>
              <a:rPr sz="800" b="0" i="0">
                <a:solidFill>
                  <a:srgbClr val="000000"/>
                </a:solidFill>
                <a:latin typeface="Arial"/>
              </a:rPr>
              <a:t> is 82% of enterprise value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Implied exit multiple: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12.4x EV/EBITDA vs 10.7x today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WACC − g spread: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4.65%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Net debt / EBITDA: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2.2x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Appendix #4.2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Scenario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Probability-weighted value of NOK 290.04 per share versus a share price of NOK 202.00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280160"/>
            <a:ext cx="6675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Scenario table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9768" y="1527048"/>
            <a:ext cx="66751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7196328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9768" y="1618488"/>
          <a:ext cx="7040880" cy="1234440"/>
        </p:xfrm>
        <a:graphic>
          <a:graphicData uri="http://schemas.openxmlformats.org/drawingml/2006/table">
            <a:tbl>
              <a:tblPr/>
              <a:tblGrid>
                <a:gridCol w="1417320"/>
                <a:gridCol w="624840"/>
                <a:gridCol w="624840"/>
                <a:gridCol w="624840"/>
                <a:gridCol w="624840"/>
                <a:gridCol w="624840"/>
                <a:gridCol w="624840"/>
                <a:gridCol w="624840"/>
                <a:gridCol w="624840"/>
                <a:gridCol w="624840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Scenario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Probability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Growth shift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Margin shift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WACC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Terminal g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Revenue CAGR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2031E margin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Value (NOK)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vs price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Bear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-2.0%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-1.5%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7.15%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1.75%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18.6%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198.74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-2%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Base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+0.0%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+0.0%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6.65%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2.00%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5.9%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20.1%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280.32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+39%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Bull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+2.0%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+1.5%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6.15%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2.25%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7.9%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21.6%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400.79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+98%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Probability-weighted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290.04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+44%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29768" y="3081528"/>
            <a:ext cx="6675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What drives each case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29768" y="3328416"/>
            <a:ext cx="66751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196328" y="3118104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" y="3392424"/>
            <a:ext cx="7040880" cy="2834639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8056" y="3438144"/>
            <a:ext cx="7004304" cy="2743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Bear (25%):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Growth 2pp lower, margin 1.5pp lower, WACC +50bp; revenue CAGR 3.9%, 2031E margin 18.6%, WACC 7.1% gives NOK 198.74 (-2% vs price)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Base (50%):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Base-case drivers; revenue CAGR 5.9%, 2031E margin 20.1%, WACC 6.6% gives NOK 280.32 (+39% vs price)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Bull (25%):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Growth 2pp higher, margin 1.5pp higher, WACC -50bp; revenue CAGR 7.9%, 2031E margin 21.6%, WACC 6.1% gives NOK 400.79 (+98% vs price)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0" i="0">
                <a:solidFill>
                  <a:srgbClr val="000000"/>
                </a:solidFill>
                <a:latin typeface="Arial"/>
              </a:rPr>
              <a:t>Shifts are additive to the base case: growth applies to every forecast year, the margin shift to the whole EBITDA margin path; capex and working capital follow revenue as in the base case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4968" y="1280160"/>
            <a:ext cx="365119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Value per share by scenario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44968" y="1527048"/>
            <a:ext cx="365119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1487607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44968" y="1591056"/>
            <a:ext cx="4016959" cy="4636007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scenarios_b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440532"/>
            <a:ext cx="3870655" cy="2937055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Appendix #4.4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Valuation through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Mowi trades at 10.6x trailing EV/EBITDA against a 3.5-year median of 9.1x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280160"/>
            <a:ext cx="516315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Trailing EV/EBITDA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9768" y="1527048"/>
            <a:ext cx="516315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84367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" y="1591056"/>
            <a:ext cx="5528919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hist_ev_ebit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743" y="1645920"/>
            <a:ext cx="4574969" cy="26791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33007" y="1280160"/>
            <a:ext cx="516315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Trailing P/E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233007" y="1527048"/>
            <a:ext cx="51631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1487607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591056"/>
            <a:ext cx="5528919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hist_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3818" y="1645920"/>
            <a:ext cx="4627297" cy="26791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9768" y="4562856"/>
            <a:ext cx="1096639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Reading the bands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29768" y="4809744"/>
            <a:ext cx="1096639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1487607" y="4599432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4873752"/>
            <a:ext cx="11332159" cy="135331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48056" y="4919472"/>
            <a:ext cx="11295583" cy="12618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EV/EBITDA: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10.6x today vs a median of 9.1x and an interquartile band of 8.4x–10.9x; 68% of weeks were cheaper. At its own median the share is worth NOK 163.72 (-19% vs price)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P/E: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13.6x today vs a median of 18.3x and an interquartile band of 10.9x–19.9x; 40% of weeks were cheaper. At its own median the share is worth NOK 272.26 (+35% vs price)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Cross-check – medium agreement between the anchors: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our target is 32% above the consensus of 11 analysts (NOK 223.96); review the growth, margin and WACC assumptions before relying on the target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0" i="0">
                <a:solidFill>
                  <a:srgbClr val="000000"/>
                </a:solidFill>
                <a:latin typeface="Arial"/>
              </a:rPr>
              <a:t>Each weekly close is paired with the latest fiscal year that was public at the time (75-day reporting lag), on the same lease basis as the model; net debt and the share count step once a year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