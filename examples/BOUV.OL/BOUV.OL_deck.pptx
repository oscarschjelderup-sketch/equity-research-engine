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0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mbria"/>
              </a:rPr>
              <a:t>Equity Research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2984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Oscar Schjelderup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16152" y="2487168"/>
            <a:ext cx="102412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2697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mbria"/>
              </a:rPr>
              <a:t>Bouvet – Compounding consultants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mbria"/>
              </a:rPr>
              <a:t>Initiation of coverage – BUY, target price NOK 78.50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5669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21.09.2026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Arial"/>
              </a:rPr>
              <a:t>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29768" y="329184"/>
            <a:ext cx="5486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29768" y="411480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14400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Presenting a model-driven investment case on Bouvet ASA.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600200"/>
            <a:ext cx="1417320" cy="173736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8F9DA6"/>
                </a:solidFill>
                <a:latin typeface="Cambria"/>
              </a:rPr>
              <a:t>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3383280"/>
            <a:ext cx="3108960" cy="310896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Oscar Schjelderup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7" y="1737360"/>
            <a:ext cx="3840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University: Copenhagen Business School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Year of study: 2nd year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Experience: HA Invest 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#1 The equity story of Bouvet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Bouvet ASA – IT consulting &amp; digital services in Norway and Sweden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207008"/>
            <a:ext cx="11332159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0" bIns="0"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8.2% revenue CAGR, 13.4% EBITDA margin and a net cash balance sheet — market cap NOK 4.8bn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Company snapshot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" y="1874519"/>
            <a:ext cx="32461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67328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5488" y="1993392"/>
            <a:ext cx="3520440" cy="178307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Sector: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IT consulting &amp; digital services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Footprint: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Norway and Sweden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Business model: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Time-and-material consulting, mainly public sector and energy clients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Scale: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Employees: 2,403 | Revenue 2025A: NOK 3,912m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Market cap: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NOK 4,847m | EV NOK 4,267m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Share price: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NOK 47.35 | 52w range 42.1–67.8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Investment highlights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8536" y="1874519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26096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06824" y="1975104"/>
            <a:ext cx="3575304" cy="1801367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Consistent growth: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revenue compounded at 8.2% p.a. over 2022–2025, reaching NOK 3,912m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Margin profile: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pre-IFRS 16 EBITDA margin of 13.4% in 2025A (down from 14.1% in 2022A), EBIT margin 12.4%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Cash generative: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unlevered FCF of NOK 276m in 2025A, 53% of EBITDA, ROIC 87%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Balance sheet: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net cash of NOK 580m, no financial leverage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Management team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47304" y="1874519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484864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304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284464" y="2048256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5944" y="2029968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Per Gunnar Tronsli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President &amp; CEO</a:t>
            </a:r>
          </a:p>
        </p:txBody>
      </p:sp>
      <p:sp>
        <p:nvSpPr>
          <p:cNvPr id="22" name="Oval 21"/>
          <p:cNvSpPr/>
          <p:nvPr/>
        </p:nvSpPr>
        <p:spPr>
          <a:xfrm>
            <a:off x="8284464" y="2478024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459736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Steffen Garder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CFO</a:t>
            </a:r>
          </a:p>
        </p:txBody>
      </p:sp>
      <p:sp>
        <p:nvSpPr>
          <p:cNvPr id="24" name="Oval 23"/>
          <p:cNvSpPr/>
          <p:nvPr/>
        </p:nvSpPr>
        <p:spPr>
          <a:xfrm>
            <a:off x="8284464" y="2907791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95944" y="2889503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Lisbeth Sneve Viker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Chief accounting officer</a:t>
            </a:r>
          </a:p>
        </p:txBody>
      </p:sp>
      <p:sp>
        <p:nvSpPr>
          <p:cNvPr id="26" name="Oval 25"/>
          <p:cNvSpPr/>
          <p:nvPr/>
        </p:nvSpPr>
        <p:spPr>
          <a:xfrm>
            <a:off x="8284464" y="3337559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19271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Simen Sommerfeldt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Revenue and EBITDA (NOKm)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9768" y="4178808"/>
            <a:ext cx="32461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rev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36" y="4288536"/>
            <a:ext cx="2893342" cy="20116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288536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Share price vs OSEBX (5 years)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88536" y="4178808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626096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88536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rel_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725" y="4288536"/>
            <a:ext cx="3473500" cy="20116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147304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Key ratios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147304" y="4178808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484864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47304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8193024" y="4315968"/>
          <a:ext cx="3520440" cy="1755648"/>
        </p:xfrm>
        <a:graphic>
          <a:graphicData uri="http://schemas.openxmlformats.org/drawingml/2006/table">
            <a:tbl>
              <a:tblPr/>
              <a:tblGrid>
                <a:gridCol w="1234440"/>
                <a:gridCol w="457200"/>
                <a:gridCol w="457200"/>
                <a:gridCol w="457200"/>
                <a:gridCol w="457200"/>
                <a:gridCol w="457200"/>
              </a:tblGrid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Revenue growth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14.3%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-0.2%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EBITDA margin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14.4%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13.4%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13.5%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13.5%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EBIT 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FCF margin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19.0%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7.1%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ROIC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72.1%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84.1%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86.5%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Net debt / EBITDA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net cash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net cash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net cash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Payout ratio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43" name="Connector 42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#2 Market overview and peer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Market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Bouvet versus its peer group: growth, profitability and the drivers behind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Revenue growth vs peers (last fiscal year)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81304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5910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rke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786454"/>
            <a:ext cx="3566160" cy="16940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8536" y="12801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EBITDA margin vs peers (lease-adjusted)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8536" y="15270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671815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15910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mark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5" y="1786454"/>
            <a:ext cx="3566160" cy="16940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" y="37947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EV/EBITDA vs peers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" y="40416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13048" y="38313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41056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mark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301054"/>
            <a:ext cx="3566160" cy="169403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88536" y="37947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P/E vs peers (trailing)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8536" y="40416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671815" y="38313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8536" y="41056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mark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5" y="4301054"/>
            <a:ext cx="3566160" cy="169403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147304" y="1280160"/>
            <a:ext cx="3614623" cy="24688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Opportunities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1527048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65592" y="1563624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Public-sector digitalisation</a:t>
            </a:r>
            <a:r>
              <a:rPr sz="850" b="0" i="0">
                <a:solidFill>
                  <a:srgbClr val="003154"/>
                </a:solidFill>
                <a:latin typeface="Arial"/>
              </a:rPr>
              <a:t> in Norway keeps demand for senior consultants high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Energy transition</a:t>
            </a:r>
            <a:r>
              <a:rPr sz="850" b="0" i="0">
                <a:solidFill>
                  <a:srgbClr val="003154"/>
                </a:solidFill>
                <a:latin typeface="Arial"/>
              </a:rPr>
              <a:t> clients (grid, oil &amp; gas, renewables) grow their IT budgets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7304" y="2980944"/>
            <a:ext cx="3614623" cy="24688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Disruption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7304" y="3227832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65592" y="3264408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Generative AI</a:t>
            </a:r>
            <a:r>
              <a:rPr sz="850" b="0" i="0">
                <a:solidFill>
                  <a:srgbClr val="003154"/>
                </a:solidFill>
                <a:latin typeface="Arial"/>
              </a:rPr>
              <a:t> raises consultant productivity but pressures billable hours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47304" y="4681727"/>
            <a:ext cx="3614623" cy="246888"/>
          </a:xfrm>
          <a:prstGeom prst="rect">
            <a:avLst/>
          </a:prstGeom>
          <a:solidFill>
            <a:srgbClr val="8F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Threats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7304" y="4928615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165592" y="4965191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Wage inflation</a:t>
            </a:r>
            <a:r>
              <a:rPr sz="850" b="0" i="0">
                <a:solidFill>
                  <a:srgbClr val="003154"/>
                </a:solidFill>
                <a:latin typeface="Arial"/>
              </a:rPr>
              <a:t> outpacing price increases would compress margins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Public-sector budget cuts</a:t>
            </a:r>
            <a:r>
              <a:rPr sz="850" b="0" i="0">
                <a:solidFill>
                  <a:srgbClr val="003154"/>
                </a:solidFill>
                <a:latin typeface="Arial"/>
              </a:rPr>
              <a:t> could reduce framework-agreement volumes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reports;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#3 Historical analysis and forecasts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Financials and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Bouvet financials, pre-IFRS 16 basis (NOKm)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" y="1280160"/>
          <a:ext cx="8549633" cy="2029968"/>
        </p:xfrm>
        <a:graphic>
          <a:graphicData uri="http://schemas.openxmlformats.org/drawingml/2006/table">
            <a:tbl>
              <a:tblPr/>
              <a:tblGrid>
                <a:gridCol w="1051560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</a:tblGrid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4">
                  <a:txBody>
                    <a:bodyPr wrap="non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HISTORICAL</a:t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7">
                  <a:txBody>
                    <a:bodyPr wrap="non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FORECAST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NOKm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2022A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TV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3,085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3,526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3,921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3,912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3,970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4,278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4,548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4,770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4,934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5,033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5,134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14.3%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-0.2%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7.8%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6.3%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4.9%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3.4%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671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687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14.1%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14.4%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EBIT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NOPAT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Unlevered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FCF 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19.0%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9.9%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10.1%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9768" y="3447287"/>
          <a:ext cx="4160520" cy="1014984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777240"/>
                <a:gridCol w="777240"/>
                <a:gridCol w="777240"/>
              </a:tblGrid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Multiples (at current price)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EV/Sales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0.9x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EV/EBITDA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8.1x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8.0x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7.4x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6.9x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EV/EBIT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8.8x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8.8x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8.2x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7.7x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P/E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13.7x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13.2x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12.2x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11.4x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FCF yield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5.7%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8.1%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9.1%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818888" y="3447287"/>
            <a:ext cx="4160520" cy="1014983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64607" y="3465575"/>
            <a:ext cx="4069080" cy="1014983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000000"/>
                </a:solidFill>
                <a:latin typeface="Arial"/>
              </a:rPr>
              <a:t>Consensus</a:t>
            </a:r>
            <a:r>
              <a:rPr sz="750" b="0" i="0">
                <a:solidFill>
                  <a:srgbClr val="000000"/>
                </a:solidFill>
                <a:latin typeface="Arial"/>
              </a:rPr>
              <a:t> (2 analysts)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000000"/>
                </a:solidFill>
                <a:latin typeface="Arial"/>
              </a:rPr>
              <a:t>Target: NOK 50.00 (range 50–50)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000000"/>
                </a:solidFill>
                <a:latin typeface="Arial"/>
              </a:rPr>
              <a:t>Ratings: 0 buy / 2 hold / 0 sell</a:t>
            </a:r>
          </a:p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000000"/>
                </a:solidFill>
                <a:latin typeface="Arial"/>
              </a:rPr>
              <a:t>Engine:</a:t>
            </a:r>
            <a:r>
              <a:rPr sz="750" b="0" i="0">
                <a:solidFill>
                  <a:srgbClr val="000000"/>
                </a:solidFill>
                <a:latin typeface="Arial"/>
              </a:rPr>
              <a:t> BUY, TP NOK 78.50 (+66%)</a:t>
            </a:r>
          </a:p>
        </p:txBody>
      </p:sp>
      <p:pic>
        <p:nvPicPr>
          <p:cNvPr id="9" name="Picture 8" descr="mult_ev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56" y="4645151"/>
            <a:ext cx="1814662" cy="1581912"/>
          </a:xfrm>
          <a:prstGeom prst="rect">
            <a:avLst/>
          </a:prstGeom>
        </p:spPr>
      </p:pic>
      <p:pic>
        <p:nvPicPr>
          <p:cNvPr id="10" name="Picture 9" descr="mult_ev_e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256" y="4645151"/>
            <a:ext cx="1814662" cy="1581912"/>
          </a:xfrm>
          <a:prstGeom prst="rect">
            <a:avLst/>
          </a:prstGeom>
        </p:spPr>
      </p:pic>
      <p:pic>
        <p:nvPicPr>
          <p:cNvPr id="11" name="Picture 10" descr="mult_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856" y="4645151"/>
            <a:ext cx="1814662" cy="1581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08008" y="1234439"/>
            <a:ext cx="255391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03255"/>
                </a:solidFill>
                <a:latin typeface="Arial"/>
              </a:rPr>
              <a:t>Financial commentary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08008" y="1508760"/>
            <a:ext cx="25539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08008" y="1554480"/>
            <a:ext cx="2553919" cy="469087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Bouvet grew revenue by -0.2% in 2025A</a:t>
            </a:r>
            <a:r>
              <a:rPr sz="850" b="0" i="0">
                <a:solidFill>
                  <a:srgbClr val="000000"/>
                </a:solidFill>
                <a:latin typeface="Arial"/>
              </a:rPr>
              <a:t> to NOK 3,912m, with pre-IFRS 16 EBITDA of NOK 525m (13.4% margin)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We forecast 2026E revenue of NOK 3,970m (+1.5%)</a:t>
            </a:r>
            <a:r>
              <a:rPr sz="850" b="0" i="0">
                <a:solidFill>
                  <a:srgbClr val="000000"/>
                </a:solidFill>
                <a:latin typeface="Arial"/>
              </a:rPr>
              <a:t>, anchored on consensus (2 analysts), fading to 2.0% terminal growth by 2031E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EBITDA margin path: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13.5% in 2026E to 13.6% in 2031E; D&amp;A 1.3% and capex 1.0% of revenue; tax rate 22%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Unlevered FCF</a:t>
            </a:r>
            <a:r>
              <a:rPr sz="850" b="0" i="0">
                <a:solidFill>
                  <a:srgbClr val="000000"/>
                </a:solidFill>
                <a:latin typeface="Arial"/>
              </a:rPr>
              <a:t> rises from NOK 391m to NOK 505m over the forecast period (10.0% FCF margin in 2031E)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Valuation vs peers: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Bouvet trades at 8.1x LTM EV/EBITDA versus a peer median of 8.5x (-4%) and 13.7x P/E versus 15.2x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Street view: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consensus target of NOK 50.00 across 2 analysts (+6% vs current price)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peer multiples on last reported fiscal year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#4 Valuation and concluding thoughts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Valuation and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We recommend a BUY. Our 12-month target price of NOK 78.50 implies +66% upside and a +74% total return including dividend; 8.0x 2026E EV/EBITDA.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207008"/>
            <a:ext cx="11332159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0" bIns="0"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DCF fair value NOK 75.76, peer multiples NOK 52.13, scenario-weighted NOK 77.79 versus a share price of NOK 47.35 — BUY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627632"/>
            <a:ext cx="38862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BUY – 12m TP NOK 78.50 · low agreement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" y="1874519"/>
            <a:ext cx="38862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" y="1938528"/>
            <a:ext cx="3886200" cy="1691640"/>
          </a:xfrm>
          <a:prstGeom prst="rect">
            <a:avLst/>
          </a:prstGeom>
          <a:solidFill>
            <a:srgbClr val="EDEDED"/>
          </a:solidFill>
          <a:ln w="95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8056" y="1975104"/>
            <a:ext cx="3849624" cy="1645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DCF value of NOK 75.76 per share</a:t>
            </a:r>
            <a:r>
              <a:rPr sz="800" b="0" i="0">
                <a:solidFill>
                  <a:srgbClr val="000000"/>
                </a:solidFill>
                <a:latin typeface="Arial"/>
              </a:rPr>
              <a:t> (WACC 8.3%, terminal growth 2.0%); terminal value is 71% of EV, implying 11.9x exit EV/EBITDA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Peer multiples imply NOK 52.13</a:t>
            </a:r>
            <a:r>
              <a:rPr sz="800" b="0" i="0">
                <a:solidFill>
                  <a:srgbClr val="000000"/>
                </a:solidFill>
                <a:latin typeface="Arial"/>
              </a:rPr>
              <a:t> per share (median of EV/EBITDA, EV/EBIT and P/E-based values)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Scenarios: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bear NOK 55 / base NOK 76 / bull NOK 104; probability-weighted NOK 77.79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12-month target price NOK 78.50: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fair value NOK 75.76 rolled forward at the 8.3% cost of equity less NOK 3.71 dividend; expected total return +74%, rating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831336"/>
            <a:ext cx="38862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Valuation summary – Football field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4078224"/>
            <a:ext cx="38862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9768" y="4142232"/>
            <a:ext cx="388620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192391"/>
            <a:ext cx="3794760" cy="19845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90288" y="1627632"/>
            <a:ext cx="52578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DCF valuation – Sensitivity analysis (value per share)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90288" y="1874519"/>
            <a:ext cx="52578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90288" y="1938528"/>
          <a:ext cx="5257795" cy="1719072"/>
        </p:xfrm>
        <a:graphic>
          <a:graphicData uri="http://schemas.openxmlformats.org/drawingml/2006/table">
            <a:tbl>
              <a:tblPr/>
              <a:tblGrid>
                <a:gridCol w="1234440"/>
                <a:gridCol w="574765"/>
                <a:gridCol w="574765"/>
                <a:gridCol w="574765"/>
                <a:gridCol w="574765"/>
                <a:gridCol w="574765"/>
                <a:gridCol w="574765"/>
                <a:gridCol w="574765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Terminal growth \ WACC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6.80%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7.30%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7.80%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8.30%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8.80%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9.30%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9.80%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1.25%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87.9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81.0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75.2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70.2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65.8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62.0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58.6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1.50%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90.9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83.5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77.2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71.9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67.3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63.3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59.7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1.75%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94.3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86.2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79.5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73.8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68.9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64.6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60.9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2.00%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97.9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89.1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81.9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75.8</a:t>
                      </a:r>
                    </a:p>
                  </a:txBody>
                  <a:tcPr marL="36576" marR="36576" marT="9144" marB="9144" anchor="ctr">
                    <a:solidFill>
                      <a:srgbClr val="81B0C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70.5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66.1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62.1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2.25%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102.0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92.4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84.5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77.9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72.4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67.6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63.4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2.50%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106.5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96.0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87.4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80.3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74.3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69.2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64.8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2.75%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111.6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99.9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90.6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82.9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76.5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71.0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66.3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90288" y="3840480"/>
            <a:ext cx="52578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Multiple valuation and what the price implies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90288" y="4087368"/>
            <a:ext cx="52578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90288" y="4151376"/>
            <a:ext cx="5257800" cy="2075687"/>
          </a:xfrm>
          <a:prstGeom prst="rect">
            <a:avLst/>
          </a:prstGeom>
          <a:solidFill>
            <a:srgbClr val="EDEDED"/>
          </a:solidFill>
          <a:ln w="95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08575" y="4187952"/>
            <a:ext cx="5221224" cy="20025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Trading at a discount: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8.1x EV/EBITDA vs 8.5x peer median (4% discount)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Earnings multiple: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13.7x trailing P/E vs 15.2x for peers (-10%)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Versus own history: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8.3x trailing EV/EBITDA is below the 3.5-year median of 11.3x (11% of weeks were cheaper)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EV/EBITDA-implied value: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NOK 49.22 at the peer median of 8.5x (range 45–56 across the 25th–75th percentile)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Market-implied WACC 12.5%</a:t>
            </a:r>
            <a:r>
              <a:rPr sz="800" b="0" i="0">
                <a:solidFill>
                  <a:srgbClr val="000000"/>
                </a:solidFill>
                <a:latin typeface="Arial"/>
              </a:rPr>
              <a:t>, above our 8.3%: the price discounts our cash flows at 422bp more than we do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Market-implied margin: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at our WACC the price is consistent with a 2031E EBITDA margin of 8.4% versus 13.6% in our base case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Cross-check – low agreement: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the DCF is 45% above the peer-multiple value (NOK 52.13) and our target is 57% above the consensus of 2 analysts (NOK 50.00); the recommendation rests on the DCF assumptions alone — treat the target as a hypothesis, not a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76688" y="1627632"/>
            <a:ext cx="1685239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408" y="1714918"/>
            <a:ext cx="1593799" cy="206570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076688" y="4096512"/>
            <a:ext cx="1685239" cy="2130551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bridge_m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08" y="4191262"/>
            <a:ext cx="1593799" cy="1941051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WACC 8.3% (Yahoo Finance (5y monthly); regression vs OSEBX rejected (R2=0.01 &lt; 0.10), Blume-adjusted); terminal growth 2.0%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Cost of capital and DCF build-up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WACC 8.30% and terminal growth 2.00% give a fair value of NOK 75.76 per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30175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WACC build-up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30175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3872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1618488"/>
          <a:ext cx="3383280" cy="2793492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Risk-free rate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Beta (raw)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0.35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Beta (adjusted, used)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Equity risk premium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5.00%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Size premium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Cost of equity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8.30%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Cost of debt (pre-tax)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Tax rate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22.0%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Cost of debt (after tax)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4.52%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Weight of equity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Weight of debt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WACC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8.30%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" y="4485131"/>
            <a:ext cx="338328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Beta: Yahoo Finance (5y monthly); regression vs OSEBX rejected (R2=0.01 &lt; 0.10), Blume-adjusted.</a:t>
            </a:r>
          </a:p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Size premium 1.50% (market cap USD 0.5bn).</a:t>
            </a:r>
          </a:p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Cost of debt: risk-free + 200bp.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280160"/>
            <a:ext cx="475487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DCF build-up (NOKm)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7368" y="1527048"/>
            <a:ext cx="475488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93368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087368" y="1618488"/>
          <a:ext cx="5120634" cy="859536"/>
        </p:xfrm>
        <a:graphic>
          <a:graphicData uri="http://schemas.openxmlformats.org/drawingml/2006/table">
            <a:tbl>
              <a:tblPr/>
              <a:tblGrid>
                <a:gridCol w="1417320"/>
                <a:gridCol w="617219"/>
                <a:gridCol w="617219"/>
                <a:gridCol w="617219"/>
                <a:gridCol w="617219"/>
                <a:gridCol w="617219"/>
                <a:gridCol w="617219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Unlevered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Discount factor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0.923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0.853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0.787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0.727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0.671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0.620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PV of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87368" y="2615184"/>
          <a:ext cx="5120640" cy="2615184"/>
        </p:xfrm>
        <a:graphic>
          <a:graphicData uri="http://schemas.openxmlformats.org/drawingml/2006/table">
            <a:tbl>
              <a:tblPr/>
              <a:tblGrid>
                <a:gridCol w="3931920"/>
                <a:gridCol w="1188720"/>
              </a:tblGrid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Bridge to value per share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NOKm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Sum of PV of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2,104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Terminal value (Gordon growth)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8,183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PV of terminal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5,072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Enterprise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7,175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net debt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minority interest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Equity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7,755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Shares outstanding (m)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102.4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Fair value per share (NOK)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75.76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x (1 + cost of equity 8.30%)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82.05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expected dividend per share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(3.71)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12-month target price (NOK, rounded)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78.50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482328" y="1280160"/>
            <a:ext cx="191383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What the share price implies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82328" y="1527048"/>
            <a:ext cx="1913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2328" y="1591056"/>
            <a:ext cx="2279599" cy="214884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00616" y="1627632"/>
            <a:ext cx="2243023" cy="20756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WACC: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12.52% vs our 8.30%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terminal growth: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-5.40% vs our 2.00%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2031E EBITDA margin: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8.4% vs our 13.6%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0" i="0">
                <a:solidFill>
                  <a:srgbClr val="000000"/>
                </a:solidFill>
                <a:latin typeface="Arial"/>
              </a:rPr>
              <a:t>Each figure solves for the one input that makes the DCF equal today's price, holding the others at the base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3922776"/>
            <a:ext cx="191383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Key checks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82328" y="4169664"/>
            <a:ext cx="1913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487607" y="3959352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82328" y="4233672"/>
            <a:ext cx="2279599" cy="199339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00616" y="4270248"/>
            <a:ext cx="2243023" cy="1920239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Terminal value</a:t>
            </a:r>
            <a:r>
              <a:rPr sz="800" b="0" i="0">
                <a:solidFill>
                  <a:srgbClr val="000000"/>
                </a:solidFill>
                <a:latin typeface="Arial"/>
              </a:rPr>
              <a:t> is 71% of enterprise value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exit multiple: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11.9x EV/EBITDA vs 8.1x today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WACC − g spread: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6.30%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Net debt / EBITDA: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net cash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Probability-weighted value of NOK 77.79 per share versus a share price of NOK 47.35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6675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Scenario table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6675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19632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1618488"/>
          <a:ext cx="7040880" cy="1234440"/>
        </p:xfrm>
        <a:graphic>
          <a:graphicData uri="http://schemas.openxmlformats.org/drawingml/2006/table">
            <a:tbl>
              <a:tblPr/>
              <a:tblGrid>
                <a:gridCol w="141732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Probability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Growth shift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Margin shift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WACC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Terminal g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Revenue CAGR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 margin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Value (NOK)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vs price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Bear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-2.0%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-1.5%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55.46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8.30%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2.00%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13.6%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75.76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+60%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Bull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+2.0%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+1.5%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104.19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+120%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Probability-weighted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77.79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+64%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" y="3081528"/>
            <a:ext cx="6675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What drives each case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" y="3328416"/>
            <a:ext cx="6675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96328" y="3118104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3392424"/>
            <a:ext cx="7040880" cy="283463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6" y="3438144"/>
            <a:ext cx="7004304" cy="2743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Bear (25%):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Growth 2pp lower, margin 1.5pp lower, WACC +50bp; revenue CAGR 2.3%, 2031E margin 12.1%, WACC 8.8% gives NOK 55.46 (+17%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Base (50%):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Base-case drivers; revenue CAGR 4.3%, 2031E margin 13.6%, WACC 8.3% gives NOK 75.76 (+60%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Bull (25%):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Growth 2pp higher, margin 1.5pp higher, WACC -50bp; revenue CAGR 6.3%, 2031E margin 15.1%, WACC 7.8% gives NOK 104.19 (+120%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0000"/>
                </a:solidFill>
                <a:latin typeface="Arial"/>
              </a:rPr>
              <a:t>Shifts are additive to the base case: growth applies to every forecast year, the margin shift to the whole EBITDA margin path; capex and working capital follow revenue as in the base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1280160"/>
            <a:ext cx="365119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Value per share by scenario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44968" y="1527048"/>
            <a:ext cx="365119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4968" y="1591056"/>
            <a:ext cx="4016959" cy="4636007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cenarios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440532"/>
            <a:ext cx="3870655" cy="2937055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Peer group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Multiples on the last reported fiscal year, enterprise value on the same lease basis as the target company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" y="1280160"/>
          <a:ext cx="11332152" cy="3328416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</a:tblGrid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Group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Mkt cap (NOKm)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 (NOKm)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Rev. growth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EBITDA margin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EV/Sales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EV/EBITDA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EV/EBIT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P/E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P/E (fwd)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Knowit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IT services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2,497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2,501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-9.6%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Tietoevry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IT services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22,628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28,051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-1.4%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17.6%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37.2x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10.1x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Netcompany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IT services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20,082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23,435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23.2x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36.1x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34.5x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Atea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IT services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18,898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17,896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11.2x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14.3x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Sopra Steria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European IT services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34,043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37,341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-2.2%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Capgemini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European IT services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189,192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249,041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1.7%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7.7x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Reply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European IT services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44,793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39,143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17.4%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Accenture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Global IT services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1,090,733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1,041,316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7.4%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16.8%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10.7x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15.2x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Peer median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10.7x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15.2x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12.2x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Peer average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25th percentile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-1.6%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75th percentile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17.0%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Bouvet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4,847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4,267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-0.2%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13.4%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1.1x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8.1x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8.8x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13.7x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14.4x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n.m. = not meaningful (negative or above 60x)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Valuation through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Bouvet trades at 8.3x trailing EV/EBITDA against a 3.5-year median of 11.3x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51631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Trailing EV/EBITDA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516315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8436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591056"/>
            <a:ext cx="5528919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hist_ev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45" y="1645920"/>
            <a:ext cx="4574764" cy="26791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3007" y="1280160"/>
            <a:ext cx="51631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Trailing P/E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33007" y="1527048"/>
            <a:ext cx="51631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591056"/>
            <a:ext cx="5528919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hist_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818" y="1645920"/>
            <a:ext cx="4627297" cy="26791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" y="4562856"/>
            <a:ext cx="1096639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Reading the bands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" y="4809744"/>
            <a:ext cx="1096639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87607" y="4599432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4873752"/>
            <a:ext cx="11332159" cy="135331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8056" y="4919472"/>
            <a:ext cx="11295583" cy="12618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EV/EBITDA: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8.3x today vs a median of 11.3x and an interquartile band of 9.7x–12.0x; 11% of weeks were cheaper. At its own median the share is worth NOK 63.79 (+35%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P/E: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13.7x today vs a median of 17.1x and an interquartile band of 15.4x–18.9x; 11% of weeks were cheaper. At its own median the share is worth NOK 59.10 (+25%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Cross-check – low agreement between the anchors: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the DCF is 45% above the peer-multiple value (NOK 52.13) and our target is 57% above the consensus of 2 analysts (NOK 50.00); the recommendation rests on the DCF assumptions alone — treat the target as a hypothesis, not a result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0000"/>
                </a:solidFill>
                <a:latin typeface="Arial"/>
              </a:rPr>
              <a:t>Each weekly close is paired with the latest fiscal year that was public at the time (75-day reporting lag), on the same lease basis as the model; net debt and the share count step once a year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