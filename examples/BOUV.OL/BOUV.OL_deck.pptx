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251960"/>
            <a:ext cx="12191695" cy="2606040"/>
          </a:xfrm>
          <a:prstGeom prst="rect">
            <a:avLst/>
          </a:prstGeom>
          <a:solidFill>
            <a:srgbClr val="0A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77724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mbria"/>
              </a:rPr>
              <a:t>Equity Research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2984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</a:rPr>
              <a:t>Oscar Schjelderup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16152" y="2487168"/>
            <a:ext cx="1024128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16152" y="26974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Cambria"/>
              </a:rPr>
              <a:t>Bouvet – Compounding consultants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41605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mbria"/>
              </a:rPr>
              <a:t>Initiation of coverage – BUY, target price NOK 77.00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56692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23.09.2026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Arial"/>
              </a:rPr>
              <a:t>Private and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29768" y="329184"/>
            <a:ext cx="5486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29768" y="411480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Analyst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914400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Presenting a model-driven investment case on Bouvet ASA.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" y="1600200"/>
            <a:ext cx="1417320" cy="173736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8F9DA6"/>
                </a:solidFill>
                <a:latin typeface="Cambria"/>
              </a:rPr>
              <a:t>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" y="3383280"/>
            <a:ext cx="3108960" cy="310896"/>
          </a:xfrm>
          <a:prstGeom prst="rect">
            <a:avLst/>
          </a:prstGeom>
          <a:solidFill>
            <a:srgbClr val="81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 i="0">
                <a:solidFill>
                  <a:srgbClr val="FFFFFF"/>
                </a:solidFill>
                <a:latin typeface="Arial"/>
              </a:rPr>
              <a:t>Oscar Schjelderup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9967" y="1737360"/>
            <a:ext cx="3840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Arial"/>
              </a:rPr>
              <a:t>University: Copenhagen Business School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Arial"/>
              </a:rPr>
              <a:t>Year of study: 2nd year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Arial"/>
              </a:rPr>
              <a:t>Experience: HA Invest member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#1 The equity story of Bouvet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Bouvet ASA – IT consulting &amp; digital services in Norway and Sweden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" y="1207008"/>
            <a:ext cx="11332159" cy="310896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0" bIns="0" wrap="square"/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8.2% revenue CAGR, 13.4% EBITDA margin and a net cash balance sheet — market cap NOK 4.9bn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627632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Company snapshot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9768" y="1874519"/>
            <a:ext cx="324611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767328" y="1664208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" y="1938528"/>
            <a:ext cx="3611880" cy="1874519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5488" y="1993392"/>
            <a:ext cx="3520440" cy="178307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Sector: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IT consulting &amp; digital services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Footprint: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Norway and Sweden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Business model: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Time-and-material consulting, mainly public sector and energy clients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Scale: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Employees: 2,403 | Revenue 2025A: NOK 3,912m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Market cap: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NOK 4,852m | EV NOK 4,692m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Share price: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NOK 47.40 | 52w range 42.1–67.0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1627632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Investment highlights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88536" y="1874519"/>
            <a:ext cx="3246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7626096" y="1664208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88536" y="1938528"/>
            <a:ext cx="3611880" cy="1874519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06824" y="1975104"/>
            <a:ext cx="3575304" cy="180136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Consistent growth: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revenue compounded at 8.2% p.a. over 2022–2025, reaching NOK 3,912m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Margin profile: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pre-IFRS 16 EBITDA margin of 13.4% in 2025A (down from 14.1% in 2022A), EBIT margin 12.4%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Cash generative: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unlevered FCF of NOK 276m in 2025A, 53% of EBITDA, ROIC 87%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Balance sheet: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net cash of NOK 160m, no financial leverage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7304" y="1627632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Management team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147304" y="1874519"/>
            <a:ext cx="3246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1484864" y="1664208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47304" y="1938528"/>
            <a:ext cx="3611880" cy="1874519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284464" y="2048256"/>
            <a:ext cx="329184" cy="32918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PG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95944" y="2029968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000000"/>
                </a:solidFill>
                <a:latin typeface="Arial"/>
              </a:rPr>
              <a:t>Per Gunnar Tronsli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President &amp; CEO</a:t>
            </a:r>
          </a:p>
        </p:txBody>
      </p:sp>
      <p:sp>
        <p:nvSpPr>
          <p:cNvPr id="22" name="Oval 21"/>
          <p:cNvSpPr/>
          <p:nvPr/>
        </p:nvSpPr>
        <p:spPr>
          <a:xfrm>
            <a:off x="8284464" y="2478024"/>
            <a:ext cx="329184" cy="32918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SG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2459736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000000"/>
                </a:solidFill>
                <a:latin typeface="Arial"/>
              </a:rPr>
              <a:t>Steffen Garder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CFO</a:t>
            </a:r>
          </a:p>
        </p:txBody>
      </p:sp>
      <p:sp>
        <p:nvSpPr>
          <p:cNvPr id="24" name="Oval 23"/>
          <p:cNvSpPr/>
          <p:nvPr/>
        </p:nvSpPr>
        <p:spPr>
          <a:xfrm>
            <a:off x="8284464" y="2907791"/>
            <a:ext cx="329184" cy="32918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95944" y="2889503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000000"/>
                </a:solidFill>
                <a:latin typeface="Arial"/>
              </a:rPr>
              <a:t>Lisbeth Sneve Viker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Chief accounting officer</a:t>
            </a:r>
          </a:p>
        </p:txBody>
      </p:sp>
      <p:sp>
        <p:nvSpPr>
          <p:cNvPr id="26" name="Oval 25"/>
          <p:cNvSpPr/>
          <p:nvPr/>
        </p:nvSpPr>
        <p:spPr>
          <a:xfrm>
            <a:off x="8284464" y="3337559"/>
            <a:ext cx="329184" cy="32918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95944" y="3319271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000000"/>
                </a:solidFill>
                <a:latin typeface="Arial"/>
              </a:rPr>
              <a:t>Simen Sommerfeldt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CTO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3931920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Revenue and EBITDA (NOKm)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29768" y="4178808"/>
            <a:ext cx="324611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767328" y="396849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" y="4242816"/>
            <a:ext cx="3611880" cy="210312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rev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36" y="4288536"/>
            <a:ext cx="2893342" cy="201168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288536" y="3931920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Share price vs OSEBX (5 years)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288536" y="4178808"/>
            <a:ext cx="3246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626096" y="396849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88536" y="4242816"/>
            <a:ext cx="3611880" cy="210312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rel_pe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725" y="4288536"/>
            <a:ext cx="3473500" cy="201168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147304" y="3931920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Key ratios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147304" y="4178808"/>
            <a:ext cx="3246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11484864" y="396849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47304" y="4242816"/>
            <a:ext cx="3611880" cy="210312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8193024" y="4315968"/>
          <a:ext cx="3520440" cy="1755648"/>
        </p:xfrm>
        <a:graphic>
          <a:graphicData uri="http://schemas.openxmlformats.org/drawingml/2006/table">
            <a:tbl>
              <a:tblPr/>
              <a:tblGrid>
                <a:gridCol w="1234440"/>
                <a:gridCol w="457200"/>
                <a:gridCol w="457200"/>
                <a:gridCol w="457200"/>
                <a:gridCol w="457200"/>
                <a:gridCol w="457200"/>
              </a:tblGrid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2023A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2024A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Revenue growth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14.3%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-0.2%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EBITDA margin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13.1%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14.4%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13.4%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13.5%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13.5%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EBIT 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FCF margin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19.0%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7.1%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9.9%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10.3%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ROIC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72.1%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84.1%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86.5%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Net debt / EBITDA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net cash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net cash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net cash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Payout ratio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cxnSp>
        <p:nvCxnSpPr>
          <p:cNvPr id="43" name="Connector 42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#2 Market overview and peer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Market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Bouvet versus its peer group: growth, profitability and the drivers behind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329184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Revenue growth vs peers (last fiscal year)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3291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81304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" y="1591056"/>
            <a:ext cx="3657600" cy="208483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arke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786454"/>
            <a:ext cx="3566160" cy="16940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8536" y="1280160"/>
            <a:ext cx="329184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EBITDA margin vs peers (lease-adjusted)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88536" y="1527048"/>
            <a:ext cx="3291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671815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8536" y="1591056"/>
            <a:ext cx="3657600" cy="208483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market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255" y="1786454"/>
            <a:ext cx="3566160" cy="169403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9768" y="3794760"/>
            <a:ext cx="329184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EV/EBITDA vs peers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29768" y="4041648"/>
            <a:ext cx="3291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813048" y="38313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4105656"/>
            <a:ext cx="3657600" cy="208483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market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4301054"/>
            <a:ext cx="3566160" cy="169403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288536" y="3794760"/>
            <a:ext cx="329184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P/E vs peers (trailing)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88536" y="4041648"/>
            <a:ext cx="3291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7671815" y="38313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88536" y="4105656"/>
            <a:ext cx="3657600" cy="208483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market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4255" y="4301054"/>
            <a:ext cx="3566160" cy="1694034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147304" y="1280160"/>
            <a:ext cx="3614623" cy="246888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Opportunities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47304" y="1527048"/>
            <a:ext cx="3614623" cy="1316736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65592" y="1563624"/>
            <a:ext cx="3578047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3154"/>
                </a:solidFill>
                <a:latin typeface="Arial"/>
              </a:rPr>
              <a:t>Public-sector digitalisation</a:t>
            </a:r>
            <a:r>
              <a:rPr sz="850" b="0" i="0">
                <a:solidFill>
                  <a:srgbClr val="003154"/>
                </a:solidFill>
                <a:latin typeface="Arial"/>
              </a:rPr>
              <a:t> in Norway keeps demand for senior consultants high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3154"/>
                </a:solidFill>
                <a:latin typeface="Arial"/>
              </a:rPr>
              <a:t>Energy transition</a:t>
            </a:r>
            <a:r>
              <a:rPr sz="850" b="0" i="0">
                <a:solidFill>
                  <a:srgbClr val="003154"/>
                </a:solidFill>
                <a:latin typeface="Arial"/>
              </a:rPr>
              <a:t> clients (grid, oil &amp; gas, renewables) grow their IT budgets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47304" y="2980944"/>
            <a:ext cx="3614623" cy="24688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Disruption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47304" y="3227832"/>
            <a:ext cx="3614623" cy="1316736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65592" y="3264408"/>
            <a:ext cx="3578047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3154"/>
                </a:solidFill>
                <a:latin typeface="Arial"/>
              </a:rPr>
              <a:t>Generative AI</a:t>
            </a:r>
            <a:r>
              <a:rPr sz="850" b="0" i="0">
                <a:solidFill>
                  <a:srgbClr val="003154"/>
                </a:solidFill>
                <a:latin typeface="Arial"/>
              </a:rPr>
              <a:t> raises consultant productivity but pressures billable hours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47304" y="4681727"/>
            <a:ext cx="3614623" cy="246888"/>
          </a:xfrm>
          <a:prstGeom prst="rect">
            <a:avLst/>
          </a:prstGeom>
          <a:solidFill>
            <a:srgbClr val="8FC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Threats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47304" y="4928615"/>
            <a:ext cx="3614623" cy="1316736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165592" y="4965191"/>
            <a:ext cx="3578047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3154"/>
                </a:solidFill>
                <a:latin typeface="Arial"/>
              </a:rPr>
              <a:t>Wage inflation</a:t>
            </a:r>
            <a:r>
              <a:rPr sz="850" b="0" i="0">
                <a:solidFill>
                  <a:srgbClr val="003154"/>
                </a:solidFill>
                <a:latin typeface="Arial"/>
              </a:rPr>
              <a:t> outpacing price increases would compress margins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3154"/>
                </a:solidFill>
                <a:latin typeface="Arial"/>
              </a:rPr>
              <a:t>Public-sector budget cuts</a:t>
            </a:r>
            <a:r>
              <a:rPr sz="850" b="0" i="0">
                <a:solidFill>
                  <a:srgbClr val="003154"/>
                </a:solidFill>
                <a:latin typeface="Arial"/>
              </a:rPr>
              <a:t> could reduce framework-agreement volumes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reports;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#3 Historical analysis and forecasts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Financials and estimates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Bouvet financials, pre-IFRS 16 basis (NOKm)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29768" y="1280160"/>
          <a:ext cx="8549633" cy="2029968"/>
        </p:xfrm>
        <a:graphic>
          <a:graphicData uri="http://schemas.openxmlformats.org/drawingml/2006/table">
            <a:tbl>
              <a:tblPr/>
              <a:tblGrid>
                <a:gridCol w="1051560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</a:tblGrid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4">
                  <a:txBody>
                    <a:bodyPr wrap="non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HISTORICAL</a:t>
                      </a:r>
                    </a:p>
                  </a:txBody>
                  <a:tcPr marL="36576" marR="36576" marT="9144" marB="9144" anchor="ctr">
                    <a:solidFill>
                      <a:srgbClr val="8F9DA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8F9DA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8F9DA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8F9DA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7">
                  <a:txBody>
                    <a:bodyPr wrap="non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FORECAST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NOKm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2022A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2023A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2024A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2029E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2030E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2031E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TV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3,085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3,526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3,921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3,912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3,970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4,278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4,548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4,770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4,934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5,033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5,134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14.3%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11.2%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-0.2%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7.8%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6.3%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4.9%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647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687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700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14.1%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13.1%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14.4%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13.4%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13.5%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13.5%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13.5%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13.6%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13.6%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13.6%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13.6%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EBIT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607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13.0%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11.9%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12.2%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12.2%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12.2%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NOPAT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9.6%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9.6%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9.6%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9.6%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Unlevered FCF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745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FCF 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11.0%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19.0%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7.1%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9.9%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10.2%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10.2%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10.1%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9768" y="3447287"/>
          <a:ext cx="4160520" cy="1014984"/>
        </p:xfrm>
        <a:graphic>
          <a:graphicData uri="http://schemas.openxmlformats.org/drawingml/2006/table">
            <a:tbl>
              <a:tblPr/>
              <a:tblGrid>
                <a:gridCol w="1051560"/>
                <a:gridCol w="777240"/>
                <a:gridCol w="777240"/>
                <a:gridCol w="777240"/>
                <a:gridCol w="777240"/>
              </a:tblGrid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Multiples (at current price)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EV/Sales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1.1x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EV/EBITDA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8.9x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8.8x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8.1x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7.6x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EV/EBIT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9.7x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9.7x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9.0x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8.4x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P/E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13.7x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13.2x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12.2x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11.4x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FCF yield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5.7%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8.1%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9.1%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9.6%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818888" y="3447287"/>
            <a:ext cx="4160520" cy="1014983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64607" y="3465575"/>
            <a:ext cx="4069080" cy="1014983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 i="0">
                <a:solidFill>
                  <a:srgbClr val="000000"/>
                </a:solidFill>
                <a:latin typeface="Arial"/>
              </a:rPr>
              <a:t>Consensus</a:t>
            </a:r>
            <a:r>
              <a:rPr sz="750" b="0" i="0">
                <a:solidFill>
                  <a:srgbClr val="000000"/>
                </a:solidFill>
                <a:latin typeface="Arial"/>
              </a:rPr>
              <a:t> (2 analysts)</a:t>
            </a:r>
          </a:p>
          <a:p>
            <a:pPr algn="l">
              <a:lnSpc>
                <a:spcPct val="110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Target: NOK 50.00 (range 50–50)</a:t>
            </a:r>
          </a:p>
          <a:p>
            <a:pPr algn="l">
              <a:lnSpc>
                <a:spcPct val="110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Ratings: 0 buy / 2 hold / 0 sell</a:t>
            </a:r>
          </a:p>
          <a:p>
            <a:pPr algn="l">
              <a:lnSpc>
                <a:spcPct val="110000"/>
              </a:lnSpc>
            </a:pPr>
            <a:r>
              <a:rPr sz="750" b="1" i="0">
                <a:solidFill>
                  <a:srgbClr val="000000"/>
                </a:solidFill>
                <a:latin typeface="Arial"/>
              </a:rPr>
              <a:t>Engine:</a:t>
            </a:r>
            <a:r>
              <a:rPr sz="750" b="0" i="0">
                <a:solidFill>
                  <a:srgbClr val="000000"/>
                </a:solidFill>
                <a:latin typeface="Arial"/>
              </a:rPr>
              <a:t> BUY, TP NOK 77.00 (+62%)</a:t>
            </a:r>
          </a:p>
        </p:txBody>
      </p:sp>
      <p:pic>
        <p:nvPicPr>
          <p:cNvPr id="9" name="Picture 8" descr="mult_ev_ebit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56" y="4645151"/>
            <a:ext cx="1814662" cy="1581912"/>
          </a:xfrm>
          <a:prstGeom prst="rect">
            <a:avLst/>
          </a:prstGeom>
        </p:spPr>
      </p:pic>
      <p:pic>
        <p:nvPicPr>
          <p:cNvPr id="10" name="Picture 9" descr="mult_ev_e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7256" y="4645151"/>
            <a:ext cx="1814662" cy="1581912"/>
          </a:xfrm>
          <a:prstGeom prst="rect">
            <a:avLst/>
          </a:prstGeom>
        </p:spPr>
      </p:pic>
      <p:pic>
        <p:nvPicPr>
          <p:cNvPr id="11" name="Picture 10" descr="mult_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2856" y="4645151"/>
            <a:ext cx="1814662" cy="1581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08008" y="1234439"/>
            <a:ext cx="2553919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003255"/>
                </a:solidFill>
                <a:latin typeface="Arial"/>
              </a:rPr>
              <a:t>Financial commentary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208008" y="1508760"/>
            <a:ext cx="255391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208008" y="1554480"/>
            <a:ext cx="2553919" cy="469087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Bouvet grew revenue by -0.2% in 2025A</a:t>
            </a:r>
            <a:r>
              <a:rPr sz="850" b="0" i="0">
                <a:solidFill>
                  <a:srgbClr val="000000"/>
                </a:solidFill>
                <a:latin typeface="Arial"/>
              </a:rPr>
              <a:t> to NOK 3,912m, with pre-IFRS 16 EBITDA of NOK 525m (13.4% margin)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We forecast 2026E revenue of NOK 3,970m (+1.5%)</a:t>
            </a:r>
            <a:r>
              <a:rPr sz="850" b="0" i="0">
                <a:solidFill>
                  <a:srgbClr val="000000"/>
                </a:solidFill>
                <a:latin typeface="Arial"/>
              </a:rPr>
              <a:t>, anchored on consensus (2 analysts), fading to 2.0% terminal growth by 2031E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EBITDA margin path: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13.5% in 2026E to 13.6% in 2031E; D&amp;A 1.3% and capex 1.0% of revenue; tax rate 22%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Unlevered FCF</a:t>
            </a:r>
            <a:r>
              <a:rPr sz="850" b="0" i="0">
                <a:solidFill>
                  <a:srgbClr val="000000"/>
                </a:solidFill>
                <a:latin typeface="Arial"/>
              </a:rPr>
              <a:t> rises from NOK 391m to NOK 505m over the forecast period (10.0% FCF margin in 2031E)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Valuation vs peers: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Bouvet trades at 9.5x LTM EV/EBITDA versus a peer median of 9.0x (+6%) and 14.8x P/E versus 14.7x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Street view: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consensus target of NOK 50.00 across 2 analysts (+5% vs current price)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estimates; peer multiples on last reported fiscal year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#4 Valuation and concluding thoughts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Valuation and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We recommend a BUY. Our 12-month target price of NOK 77.00 implies +62% upside and a +69% total return including dividend; 8.8x 2026E EV/EBITDA.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" y="1207008"/>
            <a:ext cx="11332159" cy="310896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0" bIns="0" wrap="square"/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DCF fair value NOK 74.00, peer multiples NOK 46.77, scenario-weighted NOK 76.10 versus a share price of NOK 47.40 —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627632"/>
            <a:ext cx="388620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BUY – 12m TP NOK 77.00 · low agreement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9768" y="1874519"/>
            <a:ext cx="388620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29768" y="1938528"/>
            <a:ext cx="3886200" cy="1691640"/>
          </a:xfrm>
          <a:prstGeom prst="rect">
            <a:avLst/>
          </a:prstGeom>
          <a:solidFill>
            <a:srgbClr val="EDEDED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8056" y="1975104"/>
            <a:ext cx="3849624" cy="1645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DCF value of NOK 74.00 per share</a:t>
            </a:r>
            <a:r>
              <a:rPr sz="800" b="0" i="0">
                <a:solidFill>
                  <a:srgbClr val="000000"/>
                </a:solidFill>
                <a:latin typeface="Arial"/>
              </a:rPr>
              <a:t> (WACC 8.3%, terminal growth 2.0%); terminal value is 72% of EV, implying 11.9x exit EV/EBITDA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Peer multiples imply NOK 46.77</a:t>
            </a:r>
            <a:r>
              <a:rPr sz="800" b="0" i="0">
                <a:solidFill>
                  <a:srgbClr val="000000"/>
                </a:solidFill>
                <a:latin typeface="Arial"/>
              </a:rPr>
              <a:t> per share (median of EV/EBITDA, EV/EBIT and P/E-based values)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Scenarios: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bear NOK 53 / base NOK 74 / bull NOK 103; probability-weighted NOK 76.10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12-month target price NOK 77.00: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fair value NOK 74.00 (valued at 23.09.2026) rolled forward at the 8.3% cost of equity less NOK 3.00 dividend; expected total return +69%, rating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3831336"/>
            <a:ext cx="388620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Valuation summary – Football field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9768" y="4078224"/>
            <a:ext cx="388620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9768" y="4142232"/>
            <a:ext cx="38862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footb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4265604"/>
            <a:ext cx="3794760" cy="183808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90288" y="1627632"/>
            <a:ext cx="525780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DCF valuation – Sensitivity analysis (value per share)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90288" y="1874519"/>
            <a:ext cx="525780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90288" y="1938528"/>
          <a:ext cx="5257795" cy="1719072"/>
        </p:xfrm>
        <a:graphic>
          <a:graphicData uri="http://schemas.openxmlformats.org/drawingml/2006/table">
            <a:tbl>
              <a:tblPr/>
              <a:tblGrid>
                <a:gridCol w="1234440"/>
                <a:gridCol w="574765"/>
                <a:gridCol w="574765"/>
                <a:gridCol w="574765"/>
                <a:gridCol w="574765"/>
                <a:gridCol w="574765"/>
                <a:gridCol w="574765"/>
                <a:gridCol w="574765"/>
              </a:tblGrid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Terminal growth \ WACC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6.80%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7.30%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7.80%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8.30%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8.80%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9.30%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9.80%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1.25%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86.0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79.0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73.1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68.1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63.7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56.4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1.50%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89.2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81.6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75.3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69.9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65.2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61.2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57.6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1.75%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92.6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84.5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77.6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71.9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66.9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62.6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58.8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2.00%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96.5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87.6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80.2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74.0</a:t>
                      </a:r>
                    </a:p>
                  </a:txBody>
                  <a:tcPr marL="36576" marR="36576" marT="9144" marB="9144" anchor="ctr">
                    <a:solidFill>
                      <a:srgbClr val="81B0C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68.7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64.1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60.2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2.25%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100.8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91.0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83.0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76.3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70.6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65.8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61.6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2.50%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105.5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94.8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86.0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78.8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72.7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67.5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63.1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2.75%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110.9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98.9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89.4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81.5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75.0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69.4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64.7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90288" y="3840480"/>
            <a:ext cx="525780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Multiple valuation and what the price implies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90288" y="4087368"/>
            <a:ext cx="525780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590288" y="4151376"/>
            <a:ext cx="5257800" cy="2075687"/>
          </a:xfrm>
          <a:prstGeom prst="rect">
            <a:avLst/>
          </a:prstGeom>
          <a:solidFill>
            <a:srgbClr val="EDEDED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08575" y="4187952"/>
            <a:ext cx="5221224" cy="20025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Trading at a premium: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9.5x EV/EBITDA vs 9.0x peer median (6% premium)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Earnings multiple: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14.8x trailing P/E vs 14.7x for peers (+0%); 13.3x vs 12.9x on next-twelve-month consensus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Versus own history: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8.1x trailing EV/EBITDA is below the 3.5-year median of 11.3x (11% of weeks were cheaper)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EV/EBITDA-implied value: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NOK 44.86 at the peer median of 9.0x (range 38–47 across the 25th–75th percentile)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Market-implied WACC 12.0%</a:t>
            </a:r>
            <a:r>
              <a:rPr sz="800" b="0" i="0">
                <a:solidFill>
                  <a:srgbClr val="000000"/>
                </a:solidFill>
                <a:latin typeface="Arial"/>
              </a:rPr>
              <a:t>, above our 8.3%: the price discounts our cash flows at 369bp more than we do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Market-implied margin: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at our WACC the price is consistent with a 2031E EBITDA margin of 8.9% versus 13.6% in our base case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Cross-check – low agreement: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the DCF is 58% above the peer-multiple value (NOK 46.77) and our target is 54% above the consensus of 2 analysts (NOK 50.00); the recommendation rests on the DCF assumptions alone — treat the target as a hypothesis, not a result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76688" y="1627632"/>
            <a:ext cx="1685239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2408" y="1714918"/>
            <a:ext cx="1593799" cy="206570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10076688" y="4096512"/>
            <a:ext cx="1685239" cy="2130551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bridge_m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2408" y="4191262"/>
            <a:ext cx="1593799" cy="1941051"/>
          </a:xfrm>
          <a:prstGeom prst="rect">
            <a:avLst/>
          </a:prstGeom>
        </p:spPr>
      </p:pic>
      <p:cxnSp>
        <p:nvCxnSpPr>
          <p:cNvPr id="25" name="Connector 24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estimates; WACC 8.3% (Yahoo Finance (5y monthly); regression vs OSEBX rejected (R2=0.01 &lt; 0.10), Blume-adjusted); terminal growth 2.0%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Cost of capital and DCF build-up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WACC 8.30% and terminal growth 2.00% give a fair value of NOK 74.00 per 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30175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WACC build-up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30175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53872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9768" y="1618488"/>
          <a:ext cx="3383280" cy="2793492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</a:tblGrid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Risk-free rate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3.80%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Beta (raw)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0.35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Beta (adjusted, used)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0.60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Equity risk premium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5.00%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Size premium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1.50%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Cost of equity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8.30%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Cost of debt (pre-tax)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5.80%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Tax rate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22.0%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Cost of debt (after tax)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4.52%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Weight of equity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100.0%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Weight of debt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WACC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8.30%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9768" y="4485131"/>
            <a:ext cx="3383280" cy="10972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 i="1">
                <a:solidFill>
                  <a:srgbClr val="4A4A4A"/>
                </a:solidFill>
                <a:latin typeface="Arial"/>
              </a:rPr>
              <a:t>Beta: Yahoo Finance (5y monthly); regression vs OSEBX rejected (R2=0.01 &lt; 0.10), Blume-adjusted.</a:t>
            </a:r>
          </a:p>
          <a:p>
            <a:pPr algn="l">
              <a:lnSpc>
                <a:spcPct val="110000"/>
              </a:lnSpc>
            </a:pPr>
            <a:r>
              <a:rPr sz="750" b="0" i="1">
                <a:solidFill>
                  <a:srgbClr val="4A4A4A"/>
                </a:solidFill>
                <a:latin typeface="Arial"/>
              </a:rPr>
              <a:t>Cross-check: bottom-up beta 0.78 (8 peers, unlevered median 0.67).</a:t>
            </a:r>
          </a:p>
          <a:p>
            <a:pPr algn="l">
              <a:lnSpc>
                <a:spcPct val="110000"/>
              </a:lnSpc>
            </a:pPr>
            <a:r>
              <a:rPr sz="750" b="0" i="1">
                <a:solidFill>
                  <a:srgbClr val="4A4A4A"/>
                </a:solidFill>
                <a:latin typeface="Arial"/>
              </a:rPr>
              <a:t>Size premium 1.50% (market cap USD 0.5bn).</a:t>
            </a:r>
          </a:p>
          <a:p>
            <a:pPr algn="l">
              <a:lnSpc>
                <a:spcPct val="110000"/>
              </a:lnSpc>
            </a:pPr>
            <a:r>
              <a:rPr sz="750" b="0" i="1">
                <a:solidFill>
                  <a:srgbClr val="4A4A4A"/>
                </a:solidFill>
                <a:latin typeface="Arial"/>
              </a:rPr>
              <a:t>Cost of debt: risk-free + 200bp.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7368" y="1280160"/>
            <a:ext cx="475487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DCF build-up (NOKm)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87368" y="1527048"/>
            <a:ext cx="475488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893368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087368" y="1618488"/>
          <a:ext cx="5120634" cy="1289304"/>
        </p:xfrm>
        <a:graphic>
          <a:graphicData uri="http://schemas.openxmlformats.org/drawingml/2006/table">
            <a:tbl>
              <a:tblPr/>
              <a:tblGrid>
                <a:gridCol w="1417320"/>
                <a:gridCol w="617219"/>
                <a:gridCol w="617219"/>
                <a:gridCol w="617219"/>
                <a:gridCol w="617219"/>
                <a:gridCol w="617219"/>
                <a:gridCol w="617219"/>
              </a:tblGrid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2029E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2030E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2031E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Unlevered FCF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Share still to come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Years to discount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4.27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5.27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Discount factor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0.979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0.904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0.834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0.770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0.711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0.657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PV of FCF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87368" y="3044951"/>
          <a:ext cx="5120640" cy="2615184"/>
        </p:xfrm>
        <a:graphic>
          <a:graphicData uri="http://schemas.openxmlformats.org/drawingml/2006/table">
            <a:tbl>
              <a:tblPr/>
              <a:tblGrid>
                <a:gridCol w="3931920"/>
                <a:gridCol w="1188720"/>
              </a:tblGrid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Bridge to value per share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NOKm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Sum of PV of FCF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2,040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Terminal value (Gordon growth)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8,183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PV of terminal value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5,375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Enterprise value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7,415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Less: net debt (30.06.2026)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Less: minority interest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Equity value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7,574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Shares outstanding (m)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102.4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Fair value per share (NOK, 23.09.2026)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74.00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x (1 + cost of equity 8.30%)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80.14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Less: expected dividend per share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(3.00)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12-month target price (NOK, rounded)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77.00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482328" y="1280160"/>
            <a:ext cx="191383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What the share price implies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482328" y="1527048"/>
            <a:ext cx="1913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148760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82328" y="1591056"/>
            <a:ext cx="2279599" cy="214884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500616" y="1627632"/>
            <a:ext cx="2243023" cy="20756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Implied WACC: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11.99% vs our 8.30%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Implied terminal growth: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-3.75% vs our 2.00%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Implied 2031E EBITDA margin: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8.9% vs our 13.6%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0" i="0">
                <a:solidFill>
                  <a:srgbClr val="000000"/>
                </a:solidFill>
                <a:latin typeface="Arial"/>
              </a:rPr>
              <a:t>Each figure solves for the one input that makes the DCF equal today's price, holding the others at the base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82328" y="3922776"/>
            <a:ext cx="191383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Key checks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82328" y="4169664"/>
            <a:ext cx="1913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1487607" y="3959352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82328" y="4233672"/>
            <a:ext cx="2279599" cy="199339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500616" y="4270248"/>
            <a:ext cx="2243023" cy="192023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Terminal value</a:t>
            </a:r>
            <a:r>
              <a:rPr sz="800" b="0" i="0">
                <a:solidFill>
                  <a:srgbClr val="000000"/>
                </a:solidFill>
                <a:latin typeface="Arial"/>
              </a:rPr>
              <a:t> is 72% of enterprise value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Implied exit multiple: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11.9x EV/EBITDA vs 9.5x today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WACC − g spread: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6.30%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Net debt / EBITDA: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net cash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Scenario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Probability-weighted value of NOK 76.10 per share versus a share price of NOK 47.40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6675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Scenario table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6675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719632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9768" y="1618488"/>
          <a:ext cx="7040880" cy="1234440"/>
        </p:xfrm>
        <a:graphic>
          <a:graphicData uri="http://schemas.openxmlformats.org/drawingml/2006/table">
            <a:tbl>
              <a:tblPr/>
              <a:tblGrid>
                <a:gridCol w="1417320"/>
                <a:gridCol w="624840"/>
                <a:gridCol w="624840"/>
                <a:gridCol w="624840"/>
                <a:gridCol w="624840"/>
                <a:gridCol w="624840"/>
                <a:gridCol w="624840"/>
                <a:gridCol w="624840"/>
                <a:gridCol w="624840"/>
                <a:gridCol w="624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Scenario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Probability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Growth shift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Margin shift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WACC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Terminal g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Revenue CAGR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2031E margin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Value (NOK)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vs price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Bear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-2.0%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-1.5%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8.80%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1.75%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12.1%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52.93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+12%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Base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+0.0%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+0.0%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8.30%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2.00%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4.3%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13.6%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74.00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+56%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Bull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+2.0%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+1.5%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7.80%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2.25%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15.1%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103.49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+118%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Probability-weighted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76.10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+61%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9768" y="3081528"/>
            <a:ext cx="6675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What drives each case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9768" y="3328416"/>
            <a:ext cx="6675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196328" y="3118104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" y="3392424"/>
            <a:ext cx="7040880" cy="2834639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8056" y="3438144"/>
            <a:ext cx="7004304" cy="2743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Bear (25%):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Growth 2pp lower, margin 1.5pp lower, WACC +50bp; revenue CAGR 2.3%, 2031E margin 12.1%, WACC 8.8% gives NOK 52.93 (+12%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Base (50%):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Base-case drivers; revenue CAGR 4.3%, 2031E margin 13.6%, WACC 8.3% gives NOK 74.00 (+56%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Bull (25%):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Growth 2pp higher, margin 1.5pp higher, WACC -50bp; revenue CAGR 6.3%, 2031E margin 15.1%, WACC 7.8% gives NOK 103.49 (+118%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0" i="0">
                <a:solidFill>
                  <a:srgbClr val="000000"/>
                </a:solidFill>
                <a:latin typeface="Arial"/>
              </a:rPr>
              <a:t>Shifts are additive to the base case: growth applies to every forecast year, the margin shift to the whole EBITDA margin path; capex and working capital follow revenue as in the base case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4968" y="1280160"/>
            <a:ext cx="365119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Value per share by scenario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44968" y="1527048"/>
            <a:ext cx="365119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148760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44968" y="1591056"/>
            <a:ext cx="4016959" cy="4636007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scenarios_b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440532"/>
            <a:ext cx="3870655" cy="2937055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Peer group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Last-twelve-month multiples where the quarters are reported; EV on today's market cap, the latest net debt and the same lease basis as the target company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29768" y="1280160"/>
          <a:ext cx="11332152" cy="3328416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822248"/>
                <a:gridCol w="822248"/>
                <a:gridCol w="822248"/>
                <a:gridCol w="822248"/>
                <a:gridCol w="822248"/>
                <a:gridCol w="822248"/>
                <a:gridCol w="822248"/>
                <a:gridCol w="822248"/>
                <a:gridCol w="822248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Group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Mkt cap (NOKm)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EV (NOKm)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Rev. growth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EBITDA margin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EV/Sales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EV/EBITDA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EV/EBIT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P/E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P/E (NTM)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Knowit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Nordic IT services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2,423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2,924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-9.6%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Tietoevry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Nordic IT services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22,274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25,743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-1.4%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18.5%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1.3x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7.1x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7.9x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9.9x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11.4x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Netcompany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Nordic IT services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20,421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25,027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20.7%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18.8x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26.6x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34.9x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14.6x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Atea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Nordic IT services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19,121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20,385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8.1%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4.8%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0.5x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10.7x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12.9x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16.7x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15.2x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Sopra Steria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European IT services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33,798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41,168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-2.2%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Capgemini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European IT services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191,093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264,753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1.7%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12.1%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1.1x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9.0x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10.5x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13.5x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7.9x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Reply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European IT services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46,697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41,599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17.0x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14.6x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Accenture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Global IT services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1,067,188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1,035,030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7.4%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16.7%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1.5x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9.0x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10.2x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14.7x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12.6x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Peer median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11.0%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9.0x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10.2x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14.7x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12.9x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Peer average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12.0%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1.1x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12.4x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12.2x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25th percentile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-1.6%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11.9x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75th percentile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11.7x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14.6x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Bouvet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4,852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4,692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-0.2%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12.7%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1.2x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9.5x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10.4x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14.8x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13.3x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estimates; income basis: Bouvet LTM Jun 2026; peers LTM Jun 2026 (5), FY2025 (2), LTM May 2026 (1); n.m. = not meaningful (negative or above 60x)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Valuation through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Bouvet trades at 8.1x trailing EV/EBITDA against a 3.5-year median of 11.3x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516315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Trailing EV/EBITDA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516315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8436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" y="1591056"/>
            <a:ext cx="5528919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hist_ev_ebit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845" y="1645920"/>
            <a:ext cx="4574764" cy="26791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3007" y="1280160"/>
            <a:ext cx="516315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Trailing P/E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233007" y="1527048"/>
            <a:ext cx="51631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148760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591056"/>
            <a:ext cx="5528919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hist_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818" y="1645920"/>
            <a:ext cx="4627297" cy="26791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9768" y="4562856"/>
            <a:ext cx="1096639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Reading the bands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29768" y="4809744"/>
            <a:ext cx="1096639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1487607" y="4599432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4873752"/>
            <a:ext cx="11332159" cy="135331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48056" y="4919472"/>
            <a:ext cx="11295583" cy="12618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EV/EBITDA: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8.1x today vs a median of 11.3x and an interquartile band of 9.7x–12.0x; 11% of weeks were cheaper. At its own median the share is worth NOK 59.68 (+26%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P/E: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13.5x today vs a median of 17.1x and an interquartile band of 15.4x–18.9x; 11% of weeks were cheaper. At its own median the share is worth NOK 59.10 (+25%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Cross-check – low agreement between the anchors: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the DCF is 58% above the peer-multiple value (NOK 46.77) and our target is 54% above the consensus of 2 analysts (NOK 50.00); the recommendation rests on the DCF assumptions alone — treat the target as a hypothesis, not a result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0" i="0">
                <a:solidFill>
                  <a:srgbClr val="000000"/>
                </a:solidFill>
                <a:latin typeface="Arial"/>
              </a:rPr>
              <a:t>Each weekly close is paired with the latest fiscal year that was public at the time (75-day reporting lag), on the same lease basis as the model; net debt and the share count step once a year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Estimates vs consensus and value drivers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Our 2026E EPS of NOK 3.60 is 10% above consensus; estimate momentum is negative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62179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Our estimates vs consensus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62179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73912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9768" y="1618488"/>
          <a:ext cx="6583680" cy="1143000"/>
        </p:xfrm>
        <a:graphic>
          <a:graphicData uri="http://schemas.openxmlformats.org/drawingml/2006/table">
            <a:tbl>
              <a:tblPr/>
              <a:tblGrid>
                <a:gridCol w="1828800"/>
                <a:gridCol w="792480"/>
                <a:gridCol w="792480"/>
                <a:gridCol w="792480"/>
                <a:gridCol w="792480"/>
                <a:gridCol w="792480"/>
                <a:gridCol w="792480"/>
              </a:tblGrid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Ours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Consensus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Difference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Analysts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Revenue 2026E (NOKm)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3,970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3,970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-0.0%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3,966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3,974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Revenue 2027E (NOKm)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4,278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4,278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-0.0%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4,254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4,302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EPS 2026E (NOK)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3.60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3.28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+9.5%</a:t>
                      </a:r>
                    </a:p>
                  </a:txBody>
                  <a:tcPr marL="36576" marR="36576" marT="9144" marB="9144" anchor="ctr">
                    <a:solidFill>
                      <a:srgbClr val="E3EEE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3.26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3.31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EPS 2027E (NOK)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3.89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3.66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+6.4%</a:t>
                      </a:r>
                    </a:p>
                  </a:txBody>
                  <a:tcPr marL="36576" marR="36576" marT="9144" marB="9144" anchor="ctr">
                    <a:solidFill>
                      <a:srgbClr val="E3EEE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3.59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3.73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9768" y="2962656"/>
            <a:ext cx="62179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Variant view, estimate momentum and catalysts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9768" y="3209544"/>
            <a:ext cx="62179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739128" y="2999232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" y="3273552"/>
            <a:ext cx="6583680" cy="295351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8056" y="3319272"/>
            <a:ext cx="6547104" cy="2862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19" b="1" i="0">
                <a:solidFill>
                  <a:srgbClr val="000000"/>
                </a:solidFill>
                <a:latin typeface="Arial"/>
              </a:rPr>
              <a:t>EPS 2026E NOK 3.60 vs consensus NOK 3.28 (+10%):</a:t>
            </a:r>
            <a:r>
              <a:rPr sz="819" b="0" i="0">
                <a:solidFill>
                  <a:srgbClr val="000000"/>
                </a:solidFill>
                <a:latin typeface="Arial"/>
              </a:rPr>
              <a:t> we are above the 2 analysts – outside the range of estimates; 2027E +6%; our view rests on a 13.5% 2026E EBITDA margin and a 22% tax rate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19" b="1" i="0">
                <a:solidFill>
                  <a:srgbClr val="000000"/>
                </a:solidFill>
                <a:latin typeface="Arial"/>
              </a:rPr>
              <a:t>Revenue 2026E NOK 3,970m vs consensus NOK 3,970m (-0.0%):</a:t>
            </a:r>
            <a:r>
              <a:rPr sz="819" b="0" i="0">
                <a:solidFill>
                  <a:srgbClr val="000000"/>
                </a:solidFill>
                <a:latin typeface="Arial"/>
              </a:rPr>
              <a:t> in line by construction – our growth is anchored on consensus, so the differentiated view sits in margins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19" b="1" i="0">
                <a:solidFill>
                  <a:srgbClr val="000000"/>
                </a:solidFill>
                <a:latin typeface="Arial"/>
              </a:rPr>
              <a:t>Estimate momentum negative:</a:t>
            </a:r>
            <a:r>
              <a:rPr sz="819" b="0" i="0">
                <a:solidFill>
                  <a:srgbClr val="000000"/>
                </a:solidFill>
                <a:latin typeface="Arial"/>
              </a:rPr>
              <a:t> consensus EPS over the last 90 days 2026E -4.1%, 2027E -3.2%; 2 upward and 2 downward revisions in the last 30 days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19" b="1" i="0">
                <a:solidFill>
                  <a:srgbClr val="000000"/>
                </a:solidFill>
                <a:latin typeface="Arial"/>
              </a:rPr>
              <a:t>Tension:</a:t>
            </a:r>
            <a:r>
              <a:rPr sz="819" b="0" i="0">
                <a:solidFill>
                  <a:srgbClr val="000000"/>
                </a:solidFill>
                <a:latin typeface="Arial"/>
              </a:rPr>
              <a:t> our BUY runs against falling consensus estimates – shares rarely re-rate before revisions turn, so the timing of the case depends on the next reports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19" b="1" i="0">
                <a:solidFill>
                  <a:srgbClr val="000000"/>
                </a:solidFill>
                <a:latin typeface="Arial"/>
              </a:rPr>
              <a:t>04.11.2026 – Quarterly results</a:t>
            </a:r>
            <a:r>
              <a:rPr sz="819" b="0" i="0">
                <a:solidFill>
                  <a:srgbClr val="000000"/>
                </a:solidFill>
                <a:latin typeface="Arial"/>
              </a:rPr>
              <a:t>: consensus revenue 893, EPS 0.60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8" y="1280160"/>
            <a:ext cx="410839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What moves the value – one driver at a time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87768" y="1527048"/>
            <a:ext cx="410839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148760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87768" y="1591056"/>
            <a:ext cx="4474159" cy="4636007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or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19" y="2219881"/>
            <a:ext cx="4327855" cy="336006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estimates; consensus: Yahoo Finance (mean of analyst estimates), revisions over 90 days; value drivers move one input at a time with everything else at the base case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Multiples in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Growth and margin explain 38% of the dispersion in peer EV/EBITDA; fundamentals justify 12.5x for Bouvet against 9.5x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448055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EV/EBITDA against expected revenue growth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448055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0176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" y="1591056"/>
            <a:ext cx="4846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ult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183" y="1645920"/>
            <a:ext cx="3951489" cy="24963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768" y="4361688"/>
            <a:ext cx="448055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Reading the multiples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9768" y="4608575"/>
            <a:ext cx="448055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001768" y="4398264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" y="4672583"/>
            <a:ext cx="4846320" cy="155448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8056" y="4718303"/>
            <a:ext cx="4809744" cy="1463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780" b="1" i="0">
                <a:solidFill>
                  <a:srgbClr val="000000"/>
                </a:solidFill>
                <a:latin typeface="Arial"/>
              </a:rPr>
              <a:t>On next-twelve-month consensus</a:t>
            </a:r>
            <a:r>
              <a:rPr sz="780" b="0" i="0">
                <a:solidFill>
                  <a:srgbClr val="000000"/>
                </a:solidFill>
                <a:latin typeface="Arial"/>
              </a:rPr>
              <a:t> Bouvet trades at 13.3x P/E (peers 12.9x), 1.1x EV/Sales (peers 1.2x), 8.8x EV/EBITDA at the LTM margin (peers 8.0x); PEG 1.16 vs 1.19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780" b="1" i="0">
                <a:solidFill>
                  <a:srgbClr val="000000"/>
                </a:solidFill>
                <a:latin typeface="Arial"/>
              </a:rPr>
              <a:t>Growth and margin explain 38% of the dispersion in peer EV/EBITDA</a:t>
            </a:r>
            <a:r>
              <a:rPr sz="780" b="0" i="0">
                <a:solidFill>
                  <a:srgbClr val="000000"/>
                </a:solidFill>
                <a:latin typeface="Arial"/>
              </a:rPr>
              <a:t> (8 peers): fundamentals justify 12.5x against the 9.0x median (+39%); the actual 9.5x leaves -24% unexplained. Evidence moderate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780" b="1" i="0">
                <a:solidFill>
                  <a:srgbClr val="000000"/>
                </a:solidFill>
                <a:latin typeface="Arial"/>
              </a:rPr>
              <a:t>Regression-implied value NOK 61.92</a:t>
            </a:r>
            <a:r>
              <a:rPr sz="780" b="0" i="0">
                <a:solidFill>
                  <a:srgbClr val="000000"/>
                </a:solidFill>
                <a:latin typeface="Arial"/>
              </a:rPr>
              <a:t> per share (NOK 44–80 within one residual standard deviation)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780" b="1" i="0">
                <a:solidFill>
                  <a:srgbClr val="000000"/>
                </a:solidFill>
                <a:latin typeface="Arial"/>
              </a:rPr>
              <a:t>Cash and payout:</a:t>
            </a:r>
            <a:r>
              <a:rPr sz="780" b="0" i="0">
                <a:solidFill>
                  <a:srgbClr val="000000"/>
                </a:solidFill>
                <a:latin typeface="Arial"/>
              </a:rPr>
              <a:t> 5.4% levered FCF yield vs 9.2% for peers; 6.3% dividend yield vs 3.3%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780" b="1" i="0">
                <a:solidFill>
                  <a:srgbClr val="000000"/>
                </a:solidFill>
                <a:latin typeface="Arial"/>
              </a:rPr>
              <a:t>Consensus EPS growth FY1:</a:t>
            </a:r>
            <a:r>
              <a:rPr sz="780" b="0" i="0">
                <a:solidFill>
                  <a:srgbClr val="000000"/>
                </a:solidFill>
                <a:latin typeface="Arial"/>
              </a:rPr>
              <a:t> +12% for Bouvet vs +9% for the peer median – the growth the forward multiple is buying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7" y="1280160"/>
            <a:ext cx="584575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Forward multiples and quality – consensus, calendarised to the next twelve months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550407" y="1527048"/>
            <a:ext cx="58457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148760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50407" y="1618488"/>
          <a:ext cx="6211512" cy="2615184"/>
        </p:xfrm>
        <a:graphic>
          <a:graphicData uri="http://schemas.openxmlformats.org/drawingml/2006/table">
            <a:tbl>
              <a:tblPr/>
              <a:tblGrid>
                <a:gridCol w="1325880"/>
                <a:gridCol w="512406"/>
                <a:gridCol w="786384"/>
                <a:gridCol w="512406"/>
                <a:gridCol w="512406"/>
                <a:gridCol w="512406"/>
                <a:gridCol w="512406"/>
                <a:gridCol w="512406"/>
                <a:gridCol w="512406"/>
                <a:gridCol w="512406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EV/Sales NTM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EV/EBITDA NTM*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P/E FY0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P/E FY1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P/E NTM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EPS growth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PEG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FCF yield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Div. yield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Knowit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0.5x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14.8x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13.2x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+17%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0.79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Tietoevry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1.4x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7.3x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11.8x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11.2x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11.4x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+5%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2.35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8.7%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4.7%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Netcompany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17.3x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18.4x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13.5x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14.6x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+37%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0.40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Atea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0.5x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10.1x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16.4x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14.8x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15.2x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+11%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1.40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1.8%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4.4%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Sopra Steria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0.6x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8.1x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+10%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0.79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Capgemini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1.0x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8.1x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8.4x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7.7x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7.9x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+8%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0.97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10.8%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3.2%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Reply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15.4x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14.3x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14.6x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1.80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Accenture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1.4x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8.6x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13.3x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12.6x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12.6x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+6%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2.16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9.6%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3.5%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Peer median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8.0x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14.1x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12.6x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12.9x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+9%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9.2%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3.3%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Bouvet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1.1x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8.8x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14.4x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12.9x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13.3x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+12%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1.16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5.4%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6.3%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550407" y="4288536"/>
            <a:ext cx="6211519" cy="1938527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680" b="0" i="1">
                <a:solidFill>
                  <a:srgbClr val="4A4A4A"/>
                </a:solidFill>
                <a:latin typeface="Arial"/>
              </a:rPr>
              <a:t>* NTM revenue at the LTM EBITDA margin: Yahoo Finance carries no EBITDA consensus. FY0 = fiscal year in progress; NTM = 27% of FY to 2026-12 + the rest of the following year. EV in each company's reporting currency (market cap converted from the listing currency) with the latest net debt; FCF yield is levered, after lease payments; n.m. = negative or above the cap.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estimates; consensus: Yahoo Finance mean estimates; regression: OLS with an intercept over the peers shown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