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2606040"/>
          </a:xfrm>
          <a:prstGeom prst="rect">
            <a:avLst/>
          </a:prstGeom>
          <a:solidFill>
            <a:srgbClr val="0A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7772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mbria"/>
              </a:rPr>
              <a:t>Equity Research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2984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16152" y="2487168"/>
            <a:ext cx="1024128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16152" y="26974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mbria"/>
              </a:rPr>
              <a:t>Kid – A wonderful business at a fair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mbria"/>
              </a:rPr>
              <a:t>Initiation of coverage – BUY, target price NOK 130.00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5669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21.09.2026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Arial"/>
              </a:rPr>
              <a:t>Private and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9768" y="329184"/>
            <a:ext cx="5486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29768" y="411480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914400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Presenting a model-driven investment case on Kid ASA.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600200"/>
            <a:ext cx="1417320" cy="173736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8F9DA6"/>
                </a:solidFill>
                <a:latin typeface="Cambria"/>
              </a:rPr>
              <a:t>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3383280"/>
            <a:ext cx="310896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Oscar Schjelderup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1737360"/>
            <a:ext cx="3840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University: Copenhagen Business School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Year of study: 2nd year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Arial"/>
              </a:rPr>
              <a:t>Experience: HA Invest member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#1 The equity story of Kid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Kid ASA – Home furnishing retail in Norway, Sweden, Finland, Estonia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7.5% revenue CAGR, 12.3% EBITDA margin and 1.5x net debt/EBITDA — market cap NOK 4.8bn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Company snapshot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767328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3520440" cy="178307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Sector: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Home furnishing retail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Footprint: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Norway, Sweden, Finland, Estonia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Business model: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Vertically integrated private-label retail (Kid, Hemtex)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Scale: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Employees: 454 | Revenue 2025A: NOK 3,945m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Market cap: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4,829m | EV NOK 5,551m</a:t>
            </a:r>
          </a:p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00000"/>
                </a:solidFill>
                <a:latin typeface="Arial"/>
              </a:rPr>
              <a:t>Share price: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NOK 118.80 | 52w range 112.0–154.6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Investment highlights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88536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26096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06824" y="1975104"/>
            <a:ext cx="3575304" cy="180136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Consistent growth: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revenue compounded at 7.5% p.a. over 2022–2025, reaching NOK 3,945m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Margin profile: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pre-IFRS 16 EBITDA margin of 12.3% in 2025A (down from 13.1% in 2022A), EBIT margin 8.7%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Weak cash conversion: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unlevered FCF of NOK 13m in 2025A, 3% of EBITDA (average 44% over 2022–2025), ROIC 13%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Balance sheet: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net debt of NOK 722m equals 1.5x EBITDA, a conservative leverage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27632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Management team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47304" y="1874519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1484864" y="1664208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938528"/>
            <a:ext cx="3611880" cy="187451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84464" y="2048256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MF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95944" y="2029968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Marianne Fulford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CEO</a:t>
            </a:r>
          </a:p>
        </p:txBody>
      </p:sp>
      <p:sp>
        <p:nvSpPr>
          <p:cNvPr id="22" name="Oval 21"/>
          <p:cNvSpPr/>
          <p:nvPr/>
        </p:nvSpPr>
        <p:spPr>
          <a:xfrm>
            <a:off x="8284464" y="2478024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MK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2459736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Mads Kigen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CFO</a:t>
            </a:r>
          </a:p>
        </p:txBody>
      </p:sp>
      <p:sp>
        <p:nvSpPr>
          <p:cNvPr id="24" name="Oval 23"/>
          <p:cNvSpPr/>
          <p:nvPr/>
        </p:nvSpPr>
        <p:spPr>
          <a:xfrm>
            <a:off x="8284464" y="2907791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SB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95944" y="2889503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Stian Brandhagen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Head of Sustainability</a:t>
            </a:r>
          </a:p>
        </p:txBody>
      </p:sp>
      <p:sp>
        <p:nvSpPr>
          <p:cNvPr id="26" name="Oval 25"/>
          <p:cNvSpPr/>
          <p:nvPr/>
        </p:nvSpPr>
        <p:spPr>
          <a:xfrm>
            <a:off x="8284464" y="3337559"/>
            <a:ext cx="329184" cy="32918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JG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19271"/>
            <a:ext cx="29718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00000"/>
                </a:solidFill>
                <a:latin typeface="Arial"/>
              </a:rPr>
              <a:t>Josephine Gisaeus</a:t>
            </a:r>
          </a:p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Sourcing Director &amp; Primary Insider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and EBITDA (NOKm)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9768" y="4178808"/>
            <a:ext cx="32461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767328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rev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36" y="4288536"/>
            <a:ext cx="2893342" cy="20116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88536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Share price vs OSEBX (5 years)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88536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26096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88536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rel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25" y="4288536"/>
            <a:ext cx="3473500" cy="2011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147304" y="3931920"/>
            <a:ext cx="3246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ratios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47304" y="4178808"/>
            <a:ext cx="3246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1484864" y="396849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47304" y="4242816"/>
            <a:ext cx="3611880" cy="210312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8193024" y="4315968"/>
          <a:ext cx="3520440" cy="1755648"/>
        </p:xfrm>
        <a:graphic>
          <a:graphicData uri="http://schemas.openxmlformats.org/drawingml/2006/table">
            <a:tbl>
              <a:tblPr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</a:tblGrid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Revenue 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EBIT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8.7%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5.7%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ROIC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21.3%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Net debt / EBITDA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0.4x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9456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Payout ratio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43" name="Connector 42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#2 Market overview and peer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Kid versus its peer group: growth, profitability and the drivers behind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Revenue growth vs peers (last fiscal year)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81304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rke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783348"/>
            <a:ext cx="3566160" cy="17002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2801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EBITDA margin vs peers (lease-adjusted)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88536" y="15270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671815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15910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mark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5" y="1783348"/>
            <a:ext cx="3566160" cy="17002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EV/EBITDA vs peers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813048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mark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4297948"/>
            <a:ext cx="3566160" cy="170024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288536" y="3794760"/>
            <a:ext cx="329184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P/E vs peers (trailing)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88536" y="4041648"/>
            <a:ext cx="3291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671815" y="38313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4105656"/>
            <a:ext cx="3657600" cy="208483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mark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5" y="4297948"/>
            <a:ext cx="3566160" cy="1700247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47304" y="1280160"/>
            <a:ext cx="3614623" cy="24688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Opportunities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527048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65592" y="1563624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Swedish recovery</a:t>
            </a:r>
            <a:r>
              <a:rPr sz="850" b="0" i="0">
                <a:solidFill>
                  <a:srgbClr val="003154"/>
                </a:solidFill>
                <a:latin typeface="Arial"/>
              </a:rPr>
              <a:t> supports the Hemtex segment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Opportunity to </a:t>
            </a:r>
            <a:r>
              <a:rPr sz="850" b="1" i="0">
                <a:solidFill>
                  <a:srgbClr val="003154"/>
                </a:solidFill>
                <a:latin typeface="Arial"/>
              </a:rPr>
              <a:t>increase square metres per store</a:t>
            </a:r>
            <a:r>
              <a:rPr sz="850" b="0" i="0">
                <a:solidFill>
                  <a:srgbClr val="003154"/>
                </a:solidFill>
                <a:latin typeface="Arial"/>
              </a:rPr>
              <a:t> and sell the full range in existing stores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7304" y="2980944"/>
            <a:ext cx="3614623" cy="24688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Disruption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3227832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3264408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Direct-to-consumer</a:t>
            </a:r>
            <a:r>
              <a:rPr sz="850" b="0" i="0">
                <a:solidFill>
                  <a:srgbClr val="003154"/>
                </a:solidFill>
                <a:latin typeface="Arial"/>
              </a:rPr>
              <a:t> online players threaten in-store sales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Competitors adopting </a:t>
            </a:r>
            <a:r>
              <a:rPr sz="850" b="1" i="0">
                <a:solidFill>
                  <a:srgbClr val="003154"/>
                </a:solidFill>
                <a:latin typeface="Arial"/>
              </a:rPr>
              <a:t>AI-driven inventory management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7304" y="4681727"/>
            <a:ext cx="3614623" cy="246888"/>
          </a:xfrm>
          <a:prstGeom prst="rect">
            <a:avLst/>
          </a:prstGeom>
          <a:solidFill>
            <a:srgbClr val="8F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Arial"/>
              </a:rPr>
              <a:t>Threats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47304" y="4928615"/>
            <a:ext cx="3614623" cy="1316736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65592" y="4965191"/>
            <a:ext cx="3578047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3154"/>
                </a:solidFill>
                <a:latin typeface="Arial"/>
              </a:rPr>
              <a:t>Potential </a:t>
            </a:r>
            <a:r>
              <a:rPr sz="850" b="1" i="0">
                <a:solidFill>
                  <a:srgbClr val="003154"/>
                </a:solidFill>
                <a:latin typeface="Arial"/>
              </a:rPr>
              <a:t>cost spikes in raw material and freight</a:t>
            </a:r>
            <a:r>
              <a:rPr sz="850" b="0" i="0">
                <a:solidFill>
                  <a:srgbClr val="003154"/>
                </a:solidFill>
                <a:latin typeface="Arial"/>
              </a:rPr>
              <a:t> prices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3154"/>
                </a:solidFill>
                <a:latin typeface="Arial"/>
              </a:rPr>
              <a:t>Tariffs on Chinese production</a:t>
            </a:r>
            <a:r>
              <a:rPr sz="850" b="0" i="0">
                <a:solidFill>
                  <a:srgbClr val="003154"/>
                </a:solidFill>
                <a:latin typeface="Arial"/>
              </a:rPr>
              <a:t> would hit sourcing costs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reports; Statistics Norway;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Kid financials, pre-IFRS 16 basis (NOKm)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8549633" cy="2029968"/>
        </p:xfrm>
        <a:graphic>
          <a:graphicData uri="http://schemas.openxmlformats.org/drawingml/2006/table">
            <a:tbl>
              <a:tblPr/>
              <a:tblGrid>
                <a:gridCol w="1051560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  <a:gridCol w="681643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HISTORICAL</a:t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8F9DA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7">
                  <a:txBody>
                    <a:bodyPr wrap="none"/>
                    <a:lstStyle/>
                    <a:p>
                      <a:pPr algn="ct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FORECAST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2022A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TV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3,178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3,414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3,785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3,945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4,230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4,486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4,712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4,902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5,049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5,150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5,253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5.0%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542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16.0%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13.8%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14.8%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NOPAT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10.0%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8.5%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9.3%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000000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FCF margin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5.1%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12.9%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0.3%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5.7%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1">
                          <a:solidFill>
                            <a:srgbClr val="000000"/>
                          </a:solidFill>
                          <a:latin typeface="Arial"/>
                        </a:rPr>
                        <a:t>9.1%</a:t>
                      </a:r>
                    </a:p>
                  </a:txBody>
                  <a:tcPr marL="36576" marR="36576" marT="9144" marB="9144" anchor="ctr">
                    <a:solidFill>
                      <a:srgbClr val="F4F6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9768" y="3447287"/>
          <a:ext cx="4160520" cy="1014984"/>
        </p:xfrm>
        <a:graphic>
          <a:graphicData uri="http://schemas.openxmlformats.org/drawingml/2006/table">
            <a:tbl>
              <a:tblPr/>
              <a:tblGrid>
                <a:gridCol w="1051560"/>
                <a:gridCol w="777240"/>
                <a:gridCol w="777240"/>
                <a:gridCol w="777240"/>
                <a:gridCol w="777240"/>
              </a:tblGrid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Multiples (at current price)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10.3x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9.3x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8.5x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14.0x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12.5x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11.3x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21.1x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18.1x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14.2x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69164">
                <a:tc>
                  <a:txBody>
                    <a:bodyPr wrap="none"/>
                    <a:lstStyle/>
                    <a:p>
                      <a:pPr algn="l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FCF yield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0.3%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4.3%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0" i="0">
                          <a:solidFill>
                            <a:srgbClr val="000000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818888" y="3447287"/>
            <a:ext cx="4160520" cy="1014983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64607" y="3465575"/>
            <a:ext cx="4069080" cy="1014983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Consensus</a:t>
            </a:r>
            <a:r>
              <a:rPr sz="750" b="0" i="0">
                <a:solidFill>
                  <a:srgbClr val="000000"/>
                </a:solidFill>
                <a:latin typeface="Arial"/>
              </a:rPr>
              <a:t> (4 analysts)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Target: NOK 139.50 (range 125–155)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Ratings: 2 buy / 2 hold / 0 sell</a:t>
            </a:r>
          </a:p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00000"/>
                </a:solidFill>
                <a:latin typeface="Arial"/>
              </a:rPr>
              <a:t>Engine:</a:t>
            </a:r>
            <a:r>
              <a:rPr sz="750" b="0" i="0">
                <a:solidFill>
                  <a:srgbClr val="000000"/>
                </a:solidFill>
                <a:latin typeface="Arial"/>
              </a:rPr>
              <a:t> BUY, TP NOK 130.00 (+9%)</a:t>
            </a:r>
          </a:p>
        </p:txBody>
      </p:sp>
      <p:pic>
        <p:nvPicPr>
          <p:cNvPr id="9" name="Picture 8" descr="mul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56" y="4645151"/>
            <a:ext cx="1814662" cy="1581912"/>
          </a:xfrm>
          <a:prstGeom prst="rect">
            <a:avLst/>
          </a:prstGeom>
        </p:spPr>
      </p:pic>
      <p:pic>
        <p:nvPicPr>
          <p:cNvPr id="10" name="Picture 9" descr="mult_ev_e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256" y="4645151"/>
            <a:ext cx="1814662" cy="1581912"/>
          </a:xfrm>
          <a:prstGeom prst="rect">
            <a:avLst/>
          </a:prstGeom>
        </p:spPr>
      </p:pic>
      <p:pic>
        <p:nvPicPr>
          <p:cNvPr id="11" name="Picture 10" descr="mult_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2856" y="4645151"/>
            <a:ext cx="1814662" cy="1581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08008" y="1234439"/>
            <a:ext cx="255391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03255"/>
                </a:solidFill>
                <a:latin typeface="Arial"/>
              </a:rPr>
              <a:t>Financial commentary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1508760"/>
            <a:ext cx="255391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08008" y="1554480"/>
            <a:ext cx="2553919" cy="469087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Kid grew revenue by 4.2% in 2025A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to NOK 3,945m, with pre-IFRS 16 EBITDA of NOK 485m (12.3% margin)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We forecast 2026E revenue of NOK 4,230m (+7.2%)</a:t>
            </a:r>
            <a:r>
              <a:rPr sz="850" b="0" i="0">
                <a:solidFill>
                  <a:srgbClr val="000000"/>
                </a:solidFill>
                <a:latin typeface="Arial"/>
              </a:rPr>
              <a:t>, anchored on consensus (4 analysts), fading to 2.0% terminal growth by 2031E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EBITDA margin path: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12.8% in 2026E to 15.3% in 2031E; D&amp;A 3.4% and capex 5.6% normalising to 3.6% of revenue; tax rate 22%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Unlevered FCF</a:t>
            </a:r>
            <a:r>
              <a:rPr sz="850" b="0" i="0">
                <a:solidFill>
                  <a:srgbClr val="000000"/>
                </a:solidFill>
                <a:latin typeface="Arial"/>
              </a:rPr>
              <a:t> rises from NOK 207m to NOK 467m over the forecast period (9.1% FCF margin in 2031E)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Valuation vs peers: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Kid trades at 11.4x LTM EV/EBITDA versus a peer median of 9.8x (+17%) and 21.1x P/E versus 20.2x</a:t>
            </a:r>
          </a:p>
          <a:p>
            <a:pPr marL="128016" indent="-128016">
              <a:lnSpc>
                <a:spcPct val="105000"/>
              </a:lnSpc>
              <a:spcAft>
                <a:spcPts val="5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Street view: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consensus target of NOK 139.50 across 4 analysts (+17% vs current price)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peer multiples on last reported fiscal year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We recommend a BUY. Our 12-month target price of NOK 130.00 implies +9% upside and a +16% total return including dividend; 10.3x 2026E EV/EBITDA.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207008"/>
            <a:ext cx="11332159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0" bIns="0" wrap="square"/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DCF fair value NOK 126.74, peer multiples NOK 99.28, scenario-weighted NOK 130.92 versus a share price of NOK 118.80 —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627632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BUY – 12m TP NOK 130.00 · medium agreement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" y="1874519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29768" y="1938528"/>
            <a:ext cx="3886200" cy="1691640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" y="1975104"/>
            <a:ext cx="3849624" cy="1645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DCF value of NOK 126.74 per share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(WACC 8.6%, terminal growth 2.0%); terminal value is 75% of EV, implying 9.1x exit EV/EBITDA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Peer multiples imply NOK 99.28</a:t>
            </a:r>
            <a:r>
              <a:rPr sz="800" b="0" i="0">
                <a:solidFill>
                  <a:srgbClr val="000000"/>
                </a:solidFill>
                <a:latin typeface="Arial"/>
              </a:rPr>
              <a:t> per share (median of EV/EBITDA, EV/EBIT and P/E-based values)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Scenarios: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bear NOK 84 / base NOK 127 / bull NOK 186; probability-weighted NOK 130.92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12-month target price NOK 130.00: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fair value NOK 126.74 rolled forward at the 8.8% cost of equity less NOK 7.50 dividend; expected total return +16%, rating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3831336"/>
            <a:ext cx="38862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Valuation summary – Football field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4078224"/>
            <a:ext cx="38862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9768" y="4142232"/>
            <a:ext cx="38862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02" y="4187952"/>
            <a:ext cx="3786730" cy="19933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90288" y="1627632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valuation – Sensitivity analysis (value per share)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90288" y="1874519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0288" y="1938528"/>
          <a:ext cx="5257795" cy="1719072"/>
        </p:xfrm>
        <a:graphic>
          <a:graphicData uri="http://schemas.openxmlformats.org/drawingml/2006/table">
            <a:tbl>
              <a:tblPr/>
              <a:tblGrid>
                <a:gridCol w="1234440"/>
                <a:gridCol w="574765"/>
                <a:gridCol w="574765"/>
                <a:gridCol w="574765"/>
                <a:gridCol w="574765"/>
                <a:gridCol w="574765"/>
                <a:gridCol w="574765"/>
                <a:gridCol w="574765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Terminal growth \ 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7.09%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7.59%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8.09%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8.59%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9.09%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9.59%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10.09%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152.2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137.8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125.6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115.0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105.7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97.6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90.5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158.5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143.0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129.9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118.6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108.9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100.3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92.8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165.3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148.6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134.5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122.5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112.2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103.2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95.3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172.8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154.7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139.5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126.7</a:t>
                      </a:r>
                    </a:p>
                  </a:txBody>
                  <a:tcPr marL="36576" marR="36576" marT="9144" marB="9144" anchor="ctr">
                    <a:solidFill>
                      <a:srgbClr val="81B0C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115.8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106.2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1" i="0">
                          <a:solidFill>
                            <a:srgbClr val="000000"/>
                          </a:solidFill>
                          <a:latin typeface="Arial"/>
                        </a:rPr>
                        <a:t>97.9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181.0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161.3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145.0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131.3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119.6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100.7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2.50%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190.2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168.6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151.0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136.2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123.7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113.0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103.7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750" b="0" i="0">
                          <a:solidFill>
                            <a:srgbClr val="FFFFFF"/>
                          </a:solidFill>
                          <a:latin typeface="Arial"/>
                        </a:rPr>
                        <a:t>2.75%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200.4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176.7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157.5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141.5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128.1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116.7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50" b="0" i="0">
                          <a:solidFill>
                            <a:srgbClr val="000000"/>
                          </a:solidFill>
                          <a:latin typeface="Arial"/>
                        </a:rPr>
                        <a:t>106.9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90288" y="3840480"/>
            <a:ext cx="525780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Multiple valuation and what the price implies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90288" y="4087368"/>
            <a:ext cx="525780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590288" y="4151376"/>
            <a:ext cx="5257800" cy="2075687"/>
          </a:xfrm>
          <a:prstGeom prst="rect">
            <a:avLst/>
          </a:prstGeom>
          <a:solidFill>
            <a:srgbClr val="EDEDED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08575" y="4187952"/>
            <a:ext cx="5221224" cy="20025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Trading at a premium: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11.4x EV/EBITDA vs 9.8x peer median (17% premium)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Earnings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21.1x trailing P/E vs 20.2x for peers (+4%)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Versus own history: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11.4x trailing EV/EBITDA is above the 3.5-year median of 9.5x (83% of weeks were cheaper)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EV/EBITDA-implied value: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NOK 99.28 at the peer median of 9.8x (range 83–121 across the 25th–75th percentile)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WACC 8.9%</a:t>
            </a:r>
            <a:r>
              <a:rPr sz="800" b="0" i="0">
                <a:solidFill>
                  <a:srgbClr val="000000"/>
                </a:solidFill>
                <a:latin typeface="Arial"/>
              </a:rPr>
              <a:t>, in line with our 8.6%: the price discounts our cash flows at 35bp more than we do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Market-implied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at our WACC the price is consistent with a 2031E EBITDA margin of 14.8% versus 15.3% in our base case</a:t>
            </a:r>
          </a:p>
          <a:p>
            <a:pPr marL="128016" indent="-128016">
              <a:lnSpc>
                <a:spcPct val="105000"/>
              </a:lnSpc>
              <a:spcAft>
                <a:spcPts val="3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Cross-check – medium agreement: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the DCF is 28% above the peer-multiple value (NOK 99.28) and our target is 7% below the consensus of 4 analysts (NOK 139.50); review the growth, margin and WACC assumptions before relying on the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76688" y="1627632"/>
            <a:ext cx="168523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408" y="1714918"/>
            <a:ext cx="1593799" cy="206570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076688" y="4096512"/>
            <a:ext cx="1685239" cy="2130551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bridge_m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2408" y="4191262"/>
            <a:ext cx="1593799" cy="1941051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WACC 8.6% (Yahoo Finance (5y monthly); regression vs OSEBX rejected (R2=0.03 &lt; 0.10), Blume-adjusted); terminal growth 2.0%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Cost of capital and DCF build-up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WACC 8.59% and terminal growth 2.00% give a fair value of NOK 126.74 per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30175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WACC build-up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30175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5387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3383280" cy="2793492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Risk-free rate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3.80%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(raw)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Beta (adjusted, used)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Equity risk premium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Size premium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1.50%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Cost of equity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8.83%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(pre-tax)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Tax rate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22.0%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Cost of debt (after tax)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7.02%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equity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87.0%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Weight of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8.59%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4485131"/>
            <a:ext cx="338328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Beta: Yahoo Finance (5y monthly); regression vs OSEBX rejected (R2=0.03 &lt; 0.10), Blume-adjusted.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Size premium 1.50% (market cap USD 0.5bn).</a:t>
            </a:r>
          </a:p>
          <a:p>
            <a:pPr algn="l">
              <a:lnSpc>
                <a:spcPct val="110000"/>
              </a:lnSpc>
            </a:pPr>
            <a:r>
              <a:rPr sz="750" b="0" i="1">
                <a:solidFill>
                  <a:srgbClr val="4A4A4A"/>
                </a:solidFill>
                <a:latin typeface="Arial"/>
              </a:rPr>
              <a:t>Cost of debt: interest expense / average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1280160"/>
            <a:ext cx="475487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DCF build-up (NOKm)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87368" y="1527048"/>
            <a:ext cx="475488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3368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87368" y="1618488"/>
          <a:ext cx="5120634" cy="859536"/>
        </p:xfrm>
        <a:graphic>
          <a:graphicData uri="http://schemas.openxmlformats.org/drawingml/2006/table">
            <a:tbl>
              <a:tblPr/>
              <a:tblGrid>
                <a:gridCol w="1417320"/>
                <a:gridCol w="617219"/>
                <a:gridCol w="617219"/>
                <a:gridCol w="617219"/>
                <a:gridCol w="617219"/>
                <a:gridCol w="617219"/>
                <a:gridCol w="617219"/>
              </a:tblGrid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Unlevered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Discount factor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0.848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0.781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0.719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0.610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1488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87368" y="2615184"/>
          <a:ext cx="5120640" cy="2615184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</a:tblGrid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Bridge to value per share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NOKm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Sum of PV of FCF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1,471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Terminal value (Gordon growth)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7,221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PV of terminal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4,403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Enterprise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5,874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net debt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(722)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minority interest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Equity value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5,151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Shares outstanding (m)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40.6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Fair value per share (NOK)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126.74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x (1 + cost of equity 8.83%)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137.93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Less: expected dividend per share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(7.50)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0116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12-month target price (NOK, rounded)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130.00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482328" y="1280160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the share price implies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82328" y="1527048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2328" y="1591056"/>
            <a:ext cx="2279599" cy="214884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00616" y="1627632"/>
            <a:ext cx="2243023" cy="20756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WACC: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8.95% vs our 8.59%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terminal growth: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1.51% vs our 2.00%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2031E EBITDA margin: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14.8% vs our 15.3%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0" i="0">
                <a:solidFill>
                  <a:srgbClr val="000000"/>
                </a:solidFill>
                <a:latin typeface="Arial"/>
              </a:rPr>
              <a:t>Each figure solves for the one input that makes the DCF equal today's price, holding the others at the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3922776"/>
            <a:ext cx="191383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Key checks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2328" y="4169664"/>
            <a:ext cx="191383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87607" y="395935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2328" y="4233672"/>
            <a:ext cx="2279599" cy="199339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500616" y="4270248"/>
            <a:ext cx="2243023" cy="192023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Terminal value</a:t>
            </a:r>
            <a:r>
              <a:rPr sz="800" b="0" i="0">
                <a:solidFill>
                  <a:srgbClr val="000000"/>
                </a:solidFill>
                <a:latin typeface="Arial"/>
              </a:rPr>
              <a:t> is 75% of enterprise value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Implied exit multiple: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9.1x EV/EBITDA vs 11.4x today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WACC − g spread: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6.59%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00" b="1" i="0">
                <a:solidFill>
                  <a:srgbClr val="000000"/>
                </a:solidFill>
                <a:latin typeface="Arial"/>
              </a:rPr>
              <a:t>Net debt / EBITDA:</a:t>
            </a:r>
            <a:r>
              <a:rPr sz="800" b="0" i="0">
                <a:solidFill>
                  <a:srgbClr val="000000"/>
                </a:solidFill>
                <a:latin typeface="Arial"/>
              </a:rPr>
              <a:t> 1.5x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Scenario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Probability-weighted value of NOK 130.92 per share versus a share price of NOK 118.80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Scenario table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196328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1618488"/>
          <a:ext cx="7040880" cy="1234440"/>
        </p:xfrm>
        <a:graphic>
          <a:graphicData uri="http://schemas.openxmlformats.org/drawingml/2006/table">
            <a:tbl>
              <a:tblPr/>
              <a:tblGrid>
                <a:gridCol w="141732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  <a:gridCol w="624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Probability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Growth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Margin shift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Terminal g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Revenue CAGR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Value (NOK)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vs price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Bear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1.75%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83.96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+0.0%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8.59%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2.00%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126.74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+7%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Bull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+2.0%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+1.5%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8.09%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2.25%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186.23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+57%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Probability-weighted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130.92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9768" y="3081528"/>
            <a:ext cx="6675120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What drives each case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9768" y="3328416"/>
            <a:ext cx="667512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96328" y="3118104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392424"/>
            <a:ext cx="7040880" cy="2834639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8056" y="3438144"/>
            <a:ext cx="7004304" cy="2743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Bear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lower, margin 1.5pp lower, WACC +50bp; revenue CAGR 2.5%, 2031E margin 13.8%, WACC 9.1% gives NOK 83.96 (-29%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Base (50%):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Base-case drivers; revenue CAGR 4.5%, 2031E margin 15.3%, WACC 8.6% gives NOK 126.74 (+7%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Bull (25%):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Growth 2pp higher, margin 1.5pp higher, WACC -50bp; revenue CAGR 6.5%, 2031E margin 16.8%, WACC 8.1% gives NOK 186.23 (+57%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Shifts are additive to the base case: growth applies to every forecast year, the margin shift to the whole EBITDA margin path; capex and working capital follow revenue as in the base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1280160"/>
            <a:ext cx="36511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Value per share by scenario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44968" y="1527048"/>
            <a:ext cx="36511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4968" y="1591056"/>
            <a:ext cx="4016959" cy="4636007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cenarios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440532"/>
            <a:ext cx="3870655" cy="2937055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Peer group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Multiples on the last reported fiscal year, enterprise value on the same lease basis as the target company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9768" y="1280160"/>
          <a:ext cx="11332152" cy="3328416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  <a:gridCol w="82224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Mkt cap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 (NOKm)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Rev. growth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EV/Sales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EV/EBITDA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EV/EBIT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P/E (fwd)</a:t>
                      </a:r>
                    </a:p>
                  </a:txBody>
                  <a:tcPr marL="36576" marR="36576" marT="9144" marB="9144" anchor="ctr">
                    <a:solidFill>
                      <a:srgbClr val="00325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Europris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13,633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14,541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8.6%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003255"/>
                      </a:solidFill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Clas Ohlson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25,836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24,080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13.4%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16.9x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33.3x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Rusta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11,514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11,361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Tokmanni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4,449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7,098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7.2x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9.0x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BHG Group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3,375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4,534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40.2x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Byggmax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retail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3,015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3,354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13.5x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Orkla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87,662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103,402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16.5%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13.3x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H&amp;M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Nordic consumer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250,946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250,748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-2.6%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11.2%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1.1x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10.3x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15.7x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21.4x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18.6x</a:t>
                      </a:r>
                    </a:p>
                  </a:txBody>
                  <a:tcPr marL="36576" marR="36576" marT="9144" marB="9144" anchor="ctr">
                    <a:solidFill>
                      <a:srgbClr val="EDED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9.8x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13.8x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20.2x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16.1x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Peer average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5.4%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10.2x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20.9x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16.9x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7.1%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0.5x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8.4x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12.4x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14.9x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13.0x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75th percentile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6.8%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1.2x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11.6x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15.6x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21.5x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 i="0">
                          <a:solidFill>
                            <a:srgbClr val="000000"/>
                          </a:solidFill>
                          <a:latin typeface="Arial"/>
                        </a:rPr>
                        <a:t>17.1x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Kid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4,829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5,551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1.4x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11.4x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16.2x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21.1x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 i="0">
                          <a:solidFill>
                            <a:srgbClr val="000000"/>
                          </a:solidFill>
                          <a:latin typeface="Arial"/>
                        </a:rPr>
                        <a:t>14.6x</a:t>
                      </a:r>
                    </a:p>
                  </a:txBody>
                  <a:tcPr marL="36576" marR="36576" marT="9144" marB="9144" anchor="ctr">
                    <a:solidFill>
                      <a:srgbClr val="DCE6F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C5CA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estimates; n.m. = not meaningful (negative or above 60x)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164592"/>
            <a:ext cx="1133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03255"/>
                </a:solidFill>
                <a:latin typeface="Arial"/>
              </a:rPr>
              <a:t>Appendix #4.4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384048"/>
            <a:ext cx="113321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3255"/>
                </a:solidFill>
                <a:latin typeface="Cambria"/>
              </a:rPr>
              <a:t>Valuation through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896112"/>
            <a:ext cx="1133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03154"/>
                </a:solidFill>
                <a:latin typeface="Arial"/>
              </a:rPr>
              <a:t>Kid trades at 11.4x trailing EV/EBITDA against a 3.5-year median of 9.5x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EV/EBITDA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527048"/>
            <a:ext cx="516315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68436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ist_ev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68" y="1645920"/>
            <a:ext cx="4622919" cy="2679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1280160"/>
            <a:ext cx="516315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Trailing P/E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33007" y="1527048"/>
            <a:ext cx="51631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87607" y="1316736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1056"/>
            <a:ext cx="5528919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ist_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104" y="1645920"/>
            <a:ext cx="4604725" cy="26791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8" y="4562856"/>
            <a:ext cx="10966399" cy="237744"/>
          </a:xfrm>
          <a:prstGeom prst="rect">
            <a:avLst/>
          </a:prstGeom>
          <a:noFill/>
        </p:spPr>
        <p:txBody>
          <a:bodyPr wrap="none" anchor="b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03255"/>
                </a:solidFill>
                <a:latin typeface="Arial"/>
              </a:rPr>
              <a:t>Reading the bands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29768" y="4809744"/>
            <a:ext cx="10966399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87607" y="4599432"/>
            <a:ext cx="256032" cy="256032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4873752"/>
            <a:ext cx="11332159" cy="1353311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6" y="4919472"/>
            <a:ext cx="11295583" cy="12618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EV/EBITDA: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11.4x today vs a median of 9.5x and an interquartile band of 8.4x–11.0x; 83% of weeks were cheaper. At its own median the share is worth NOK 95.88 (-19%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P/E: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21.1x today vs a median of 15.5x and an interquartile band of 13.2x–18.0x; 89% of weeks were cheaper. At its own median the share is worth NOK 87.23 (-27% vs price)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1" i="0">
                <a:solidFill>
                  <a:srgbClr val="000000"/>
                </a:solidFill>
                <a:latin typeface="Arial"/>
              </a:rPr>
              <a:t>Cross-check – medium agreement between the anchors:</a:t>
            </a:r>
            <a:r>
              <a:rPr sz="850" b="0" i="0">
                <a:solidFill>
                  <a:srgbClr val="000000"/>
                </a:solidFill>
                <a:latin typeface="Arial"/>
              </a:rPr>
              <a:t> the DCF is 28% above the peer-multiple value (NOK 99.28) and our target is 7% below the consensus of 4 analysts (NOK 139.50); review the growth, margin and WACC assumptions before relying on the target</a:t>
            </a:r>
          </a:p>
          <a:p>
            <a:pPr marL="128016" indent="-128016">
              <a:lnSpc>
                <a:spcPct val="105000"/>
              </a:lnSpc>
              <a:spcAft>
                <a:spcPts val="400"/>
              </a:spcAft>
              <a:buClr>
                <a:srgbClr val="003255"/>
              </a:buClr>
              <a:buFont typeface="Arial"/>
              <a:buChar char="▪"/>
            </a:pPr>
            <a:r>
              <a:rPr sz="850" b="0" i="0">
                <a:solidFill>
                  <a:srgbClr val="000000"/>
                </a:solidFill>
                <a:latin typeface="Arial"/>
              </a:rPr>
              <a:t>Each weekly close is paired with the latest fiscal year that was public at the time (75-day reporting lag), on the same lease basis as the model; net debt and the share count step once a year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" y="6336792"/>
            <a:ext cx="10024567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" y="6355079"/>
            <a:ext cx="9905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Sources: Company reports, Yahoo Finance, Equity Research Engine estimates</a:t>
            </a:r>
          </a:p>
          <a:p>
            <a:pPr algn="l"/>
            <a:r>
              <a:rPr sz="650" b="0" i="1">
                <a:solidFill>
                  <a:srgbClr val="4A4A4A"/>
                </a:solidFill>
                <a:latin typeface="Arial"/>
              </a:rPr>
              <a:t>For illustration only — not investment advice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91495" y="6336792"/>
            <a:ext cx="1170432" cy="0"/>
          </a:xfrm>
          <a:prstGeom prst="line">
            <a:avLst/>
          </a:prstGeom>
          <a:ln w="952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91495" y="6373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03255"/>
                </a:solidFill>
                <a:latin typeface="Cambria"/>
              </a:rPr>
              <a:t>Equity Research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33327" y="637336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0032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