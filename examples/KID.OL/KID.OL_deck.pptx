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0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mbria"/>
              </a:rPr>
              <a:t>Equity Research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2984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Oscar Schjelderup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16152" y="2487168"/>
            <a:ext cx="102412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mbria"/>
              </a:rPr>
              <a:t>Kid – A wonderful business at a fair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mbria"/>
              </a:rPr>
              <a:t>Initiation of coverage – HOLD, target price NOK 126.00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5669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23.09.2026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Arial"/>
              </a:rPr>
              <a:t>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29768" y="329184"/>
            <a:ext cx="5486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29768" y="411480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14400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Presenting a model-driven investment case on Kid ASA.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600200"/>
            <a:ext cx="1417320" cy="173736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8F9DA6"/>
                </a:solidFill>
                <a:latin typeface="Cambria"/>
              </a:rPr>
              <a:t>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3383280"/>
            <a:ext cx="3108960" cy="310896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Oscar Schjelderup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7" y="1737360"/>
            <a:ext cx="3840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University: Copenhagen Business School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Year of study: 2nd year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Experience: HA Invest 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#1 The equity story of Kid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Kid ASA – Home furnishing retail in Norway, Sweden, Finland, Estonia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207008"/>
            <a:ext cx="11332159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7.5% revenue CAGR, 12.3% EBITDA margin and 1.5x net debt/EBITDA — market cap NOK 5.0bn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Company snapshot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" y="1874519"/>
            <a:ext cx="32461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67328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5488" y="1993392"/>
            <a:ext cx="3520440" cy="178307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Sector: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Home furnishing retail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Footprint: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Norway, Sweden, Finland, Estonia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Business model: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Vertically integrated private-label retail (Kid, Hemtex)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Scale: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Employees: 454 | Revenue 2025A: NOK 3,945m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Market cap: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NOK 4,967m | EV NOK 6,048m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Share price: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NOK 122.20 | 52w range 112.0–154.6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Investment highlights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8536" y="1874519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26096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06824" y="1975104"/>
            <a:ext cx="3575304" cy="1801367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Consistent growth: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revenue compounded at 7.5% p.a. over 2022–2025, reaching NOK 3,945m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Margin profile: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pre-IFRS 16 EBITDA margin of 12.3% in 2025A (down from 13.1% in 2022A), EBIT margin 8.7%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Weak cash conversion: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unlevered FCF of NOK 13m in 2025A, 3% of EBITDA (average 44% over 2022–2025), ROIC 13%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Balance sheet: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net debt of NOK 1,081m equals 1.5x EBITDA, a conservative leverage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Management team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47304" y="1874519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484864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284464" y="2048256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MF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4" y="2029968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Marianne Fulford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CEO</a:t>
            </a:r>
          </a:p>
        </p:txBody>
      </p:sp>
      <p:sp>
        <p:nvSpPr>
          <p:cNvPr id="22" name="Oval 21"/>
          <p:cNvSpPr/>
          <p:nvPr/>
        </p:nvSpPr>
        <p:spPr>
          <a:xfrm>
            <a:off x="8284464" y="2478024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MK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459736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Mads Kigen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CFO</a:t>
            </a:r>
          </a:p>
        </p:txBody>
      </p:sp>
      <p:sp>
        <p:nvSpPr>
          <p:cNvPr id="24" name="Oval 23"/>
          <p:cNvSpPr/>
          <p:nvPr/>
        </p:nvSpPr>
        <p:spPr>
          <a:xfrm>
            <a:off x="8284464" y="2907791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95944" y="2889503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Stian Brandhagen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Head of Sustainability</a:t>
            </a:r>
          </a:p>
        </p:txBody>
      </p:sp>
      <p:sp>
        <p:nvSpPr>
          <p:cNvPr id="26" name="Oval 25"/>
          <p:cNvSpPr/>
          <p:nvPr/>
        </p:nvSpPr>
        <p:spPr>
          <a:xfrm>
            <a:off x="8284464" y="3337559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JG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19271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Josephine Gisaeus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Sourcing Director &amp; Primary Insider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Revenue and EBITDA (NOKm)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9768" y="4178808"/>
            <a:ext cx="32461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rev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36" y="4288536"/>
            <a:ext cx="2893342" cy="20116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288536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Share price vs OSEBX (5 years)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88536" y="4178808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626096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88536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rel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725" y="4288536"/>
            <a:ext cx="3473500" cy="20116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147304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Key ratios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147304" y="4178808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484864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47304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8193024" y="4315968"/>
          <a:ext cx="3520440" cy="1755648"/>
        </p:xfrm>
        <a:graphic>
          <a:graphicData uri="http://schemas.openxmlformats.org/drawingml/2006/table">
            <a:tbl>
              <a:tblPr/>
              <a:tblGrid>
                <a:gridCol w="1234440"/>
                <a:gridCol w="457200"/>
                <a:gridCol w="457200"/>
                <a:gridCol w="457200"/>
                <a:gridCol w="457200"/>
                <a:gridCol w="457200"/>
              </a:tblGrid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Revenue growth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17.8%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EBIT 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FCF margin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9.5%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ROIC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18.6%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21.3%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Net debt / EBITDA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Payout ratio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43" name="Connector 42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#2 Market overview and peer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Market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Kid versus its peer group: growth, profitability and the drivers behind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Revenue growth vs peers (last fiscal year)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81304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5910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rke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783348"/>
            <a:ext cx="3566160" cy="17002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8536" y="12801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EBITDA margin vs peers (lease-adjusted)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8536" y="15270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671815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5910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mark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5" y="1783348"/>
            <a:ext cx="3566160" cy="17002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" y="37947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EV/EBITDA vs peers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" y="40416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13048" y="38313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41056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mark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297948"/>
            <a:ext cx="3566160" cy="17002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88536" y="37947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P/E vs peers (trailing)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8536" y="40416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671815" y="38313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6" y="41056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mark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5" y="4297948"/>
            <a:ext cx="3566160" cy="1700247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147304" y="1280160"/>
            <a:ext cx="3614623" cy="24688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Opportunities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1527048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65592" y="1563624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Swedish recovery</a:t>
            </a:r>
            <a:r>
              <a:rPr sz="850" b="0" i="0">
                <a:solidFill>
                  <a:srgbClr val="003154"/>
                </a:solidFill>
                <a:latin typeface="Arial"/>
              </a:rPr>
              <a:t> supports the Hemtex segment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3154"/>
                </a:solidFill>
                <a:latin typeface="Arial"/>
              </a:rPr>
              <a:t>Opportunity to </a:t>
            </a:r>
            <a:r>
              <a:rPr sz="850" b="1" i="0">
                <a:solidFill>
                  <a:srgbClr val="003154"/>
                </a:solidFill>
                <a:latin typeface="Arial"/>
              </a:rPr>
              <a:t>increase square metres per store</a:t>
            </a:r>
            <a:r>
              <a:rPr sz="850" b="0" i="0">
                <a:solidFill>
                  <a:srgbClr val="003154"/>
                </a:solidFill>
                <a:latin typeface="Arial"/>
              </a:rPr>
              <a:t> and sell the full range in existing stores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7304" y="2980944"/>
            <a:ext cx="3614623" cy="24688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Disruption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7304" y="3227832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65592" y="3264408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Direct-to-consumer</a:t>
            </a:r>
            <a:r>
              <a:rPr sz="850" b="0" i="0">
                <a:solidFill>
                  <a:srgbClr val="003154"/>
                </a:solidFill>
                <a:latin typeface="Arial"/>
              </a:rPr>
              <a:t> online players threaten in-store sales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3154"/>
                </a:solidFill>
                <a:latin typeface="Arial"/>
              </a:rPr>
              <a:t>Competitors adopting </a:t>
            </a:r>
            <a:r>
              <a:rPr sz="850" b="1" i="0">
                <a:solidFill>
                  <a:srgbClr val="003154"/>
                </a:solidFill>
                <a:latin typeface="Arial"/>
              </a:rPr>
              <a:t>AI-driven inventory management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47304" y="4681727"/>
            <a:ext cx="3614623" cy="246888"/>
          </a:xfrm>
          <a:prstGeom prst="rect">
            <a:avLst/>
          </a:prstGeom>
          <a:solidFill>
            <a:srgbClr val="8F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Threats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7304" y="4928615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65592" y="4965191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3154"/>
                </a:solidFill>
                <a:latin typeface="Arial"/>
              </a:rPr>
              <a:t>Potential </a:t>
            </a:r>
            <a:r>
              <a:rPr sz="850" b="1" i="0">
                <a:solidFill>
                  <a:srgbClr val="003154"/>
                </a:solidFill>
                <a:latin typeface="Arial"/>
              </a:rPr>
              <a:t>cost spikes in raw material and freight</a:t>
            </a:r>
            <a:r>
              <a:rPr sz="850" b="0" i="0">
                <a:solidFill>
                  <a:srgbClr val="003154"/>
                </a:solidFill>
                <a:latin typeface="Arial"/>
              </a:rPr>
              <a:t> prices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Tariffs on Chinese production</a:t>
            </a:r>
            <a:r>
              <a:rPr sz="850" b="0" i="0">
                <a:solidFill>
                  <a:srgbClr val="003154"/>
                </a:solidFill>
                <a:latin typeface="Arial"/>
              </a:rPr>
              <a:t> would hit sourcing costs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reports; Statistics Norway;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#3 Historical analysis and forecasts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Financials and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Kid financials, pre-IFRS 16 basis (NOKm)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" y="1280160"/>
          <a:ext cx="8549633" cy="2029968"/>
        </p:xfrm>
        <a:graphic>
          <a:graphicData uri="http://schemas.openxmlformats.org/drawingml/2006/table">
            <a:tbl>
              <a:tblPr/>
              <a:tblGrid>
                <a:gridCol w="1051560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</a:tblGrid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4">
                  <a:txBody>
                    <a:bodyPr wrap="non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HISTORICAL</a:t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7">
                  <a:txBody>
                    <a:bodyPr wrap="non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FORECAST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NOKm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2022A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TV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3,178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3,414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3,785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3,945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4,243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4,500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4,727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4,917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5,065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5,167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5,270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6.1%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5.0%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4.0%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3.0%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809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17.8%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14.0%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14.4%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14.9%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15.3%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15.3%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EBIT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14.3%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8.7%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9.7%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NOPAT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6.9%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8.3%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8.6%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Unlevered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468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FCF 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5.1%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0.3%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5.1%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5.9%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6.7%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8.3%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768" y="3447287"/>
          <a:ext cx="4160520" cy="1014984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777240"/>
                <a:gridCol w="777240"/>
                <a:gridCol w="777240"/>
              </a:tblGrid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Multiples (at current price)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EV/Sales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EV/EBITDA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12.5x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10.9x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9.9x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9.1x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EV/EBIT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17.7x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14.7x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13.3x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12.1x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P/E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21.7x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17.9x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15.9x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14.3x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FCF yield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0.3%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4.4%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5.4%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6.4%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818888" y="3447287"/>
            <a:ext cx="4160520" cy="1014983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64607" y="3465575"/>
            <a:ext cx="4069080" cy="1014983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000000"/>
                </a:solidFill>
                <a:latin typeface="Arial"/>
              </a:rPr>
              <a:t>Consensus</a:t>
            </a:r>
            <a:r>
              <a:rPr sz="750" b="0" i="0">
                <a:solidFill>
                  <a:srgbClr val="000000"/>
                </a:solidFill>
                <a:latin typeface="Arial"/>
              </a:rPr>
              <a:t> (4 analysts)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000000"/>
                </a:solidFill>
                <a:latin typeface="Arial"/>
              </a:rPr>
              <a:t>Target: NOK 139.50 (range 125–155)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000000"/>
                </a:solidFill>
                <a:latin typeface="Arial"/>
              </a:rPr>
              <a:t>Ratings: 2 buy / 2 hold / 0 sell</a:t>
            </a:r>
          </a:p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000000"/>
                </a:solidFill>
                <a:latin typeface="Arial"/>
              </a:rPr>
              <a:t>Engine:</a:t>
            </a:r>
            <a:r>
              <a:rPr sz="750" b="0" i="0">
                <a:solidFill>
                  <a:srgbClr val="000000"/>
                </a:solidFill>
                <a:latin typeface="Arial"/>
              </a:rPr>
              <a:t> HOLD, TP NOK 126.00 (+3%)</a:t>
            </a:r>
          </a:p>
        </p:txBody>
      </p:sp>
      <p:pic>
        <p:nvPicPr>
          <p:cNvPr id="9" name="Picture 8" descr="mult_ev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56" y="4645151"/>
            <a:ext cx="1814662" cy="1581912"/>
          </a:xfrm>
          <a:prstGeom prst="rect">
            <a:avLst/>
          </a:prstGeom>
        </p:spPr>
      </p:pic>
      <p:pic>
        <p:nvPicPr>
          <p:cNvPr id="10" name="Picture 9" descr="mult_ev_e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256" y="4645151"/>
            <a:ext cx="1814662" cy="1581912"/>
          </a:xfrm>
          <a:prstGeom prst="rect">
            <a:avLst/>
          </a:prstGeom>
        </p:spPr>
      </p:pic>
      <p:pic>
        <p:nvPicPr>
          <p:cNvPr id="11" name="Picture 10" descr="mult_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856" y="4645151"/>
            <a:ext cx="1814662" cy="1581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08008" y="1234439"/>
            <a:ext cx="255391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03255"/>
                </a:solidFill>
                <a:latin typeface="Arial"/>
              </a:rPr>
              <a:t>Financial commentary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08008" y="1508760"/>
            <a:ext cx="25539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08008" y="1554480"/>
            <a:ext cx="2553919" cy="469087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Kid grew revenue by 4.2% in 2025A</a:t>
            </a:r>
            <a:r>
              <a:rPr sz="850" b="0" i="0">
                <a:solidFill>
                  <a:srgbClr val="000000"/>
                </a:solidFill>
                <a:latin typeface="Arial"/>
              </a:rPr>
              <a:t> to NOK 3,945m, with pre-IFRS 16 EBITDA of NOK 485m (12.3% margin)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2026E is built on the 2 reported quarters: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revenue +8.1% year-to-date at a 9.0% EBITDA margin (8.2% a year earlier); the rest of the year at +7.2% growth on last year's seasonal margins gives NOK 4,243m (+7.6%) and a 13.1% margin; growth then follows consensus (4 analysts) and fades to 2.0% by 2031E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EBITDA margin path: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13.1% in 2026E to 15.3% in 2031E; D&amp;A 3.4% and capex 5.6% normalising to 3.6% of revenue; tax rate 22%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Unlevered FCF</a:t>
            </a:r>
            <a:r>
              <a:rPr sz="850" b="0" i="0">
                <a:solidFill>
                  <a:srgbClr val="000000"/>
                </a:solidFill>
                <a:latin typeface="Arial"/>
              </a:rPr>
              <a:t> rises from NOK 216m to NOK 468m over the forecast period (9.1% FCF margin in 2031E)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Valuation vs peers: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Kid trades at 11.9x LTM EV/EBITDA versus a peer median of 10.5x (+13%) and 19.1x P/E versus 19.7x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Street view: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consensus target of NOK 139.50 across 4 analysts (+14% vs current price)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peer multiples on last reported fiscal year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#4 Valuation and concluding 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Valuation and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We recommend a HOLD. Our 12-month target price of NOK 126.00 implies +3% upside and a +11% total return including dividend; 10.9x 2026E EV/EBITDA.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207008"/>
            <a:ext cx="11332159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DCF fair value NOK 125.26, peer multiples NOK 105.82, scenario-weighted NOK 129.60 versus a share price of NOK 122.20 — 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627632"/>
            <a:ext cx="38862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HOLD – 12m TP NOK 126.00 · medium agreement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" y="1874519"/>
            <a:ext cx="38862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" y="1938528"/>
            <a:ext cx="3886200" cy="1691640"/>
          </a:xfrm>
          <a:prstGeom prst="rect">
            <a:avLst/>
          </a:prstGeom>
          <a:solidFill>
            <a:srgbClr val="EDEDED"/>
          </a:solidFill>
          <a:ln w="95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8056" y="1975104"/>
            <a:ext cx="3849624" cy="1645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DCF value of NOK 125.26 per share</a:t>
            </a:r>
            <a:r>
              <a:rPr sz="800" b="0" i="0">
                <a:solidFill>
                  <a:srgbClr val="000000"/>
                </a:solidFill>
                <a:latin typeface="Arial"/>
              </a:rPr>
              <a:t> (WACC 8.6%, terminal growth 2.0%); terminal value is 76% of EV, implying 9.1x exit EV/EBITDA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Peer multiples imply NOK 105.82</a:t>
            </a:r>
            <a:r>
              <a:rPr sz="800" b="0" i="0">
                <a:solidFill>
                  <a:srgbClr val="000000"/>
                </a:solidFill>
                <a:latin typeface="Arial"/>
              </a:rPr>
              <a:t> per share (median of EV/EBITDA, EV/EBIT and P/E-based values)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Scenarios: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bear NOK 81 / base NOK 125 / bull NOK 187; probability-weighted NOK 129.60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12-month target price NOK 126.00: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fair value NOK 125.26 (valued at 23.09.2026) rolled forward at the 8.8% cost of equity less NOK 10.00 dividend; expected total return +11%, rating 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831336"/>
            <a:ext cx="38862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Valuation summary – Football field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4078224"/>
            <a:ext cx="38862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9768" y="4142232"/>
            <a:ext cx="388620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265604"/>
            <a:ext cx="3794760" cy="18380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90288" y="1627632"/>
            <a:ext cx="52578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DCF valuation – Sensitivity analysis (value per share)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0288" y="1874519"/>
            <a:ext cx="52578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90288" y="1938528"/>
          <a:ext cx="5257795" cy="1719072"/>
        </p:xfrm>
        <a:graphic>
          <a:graphicData uri="http://schemas.openxmlformats.org/drawingml/2006/table">
            <a:tbl>
              <a:tblPr/>
              <a:tblGrid>
                <a:gridCol w="1234440"/>
                <a:gridCol w="574765"/>
                <a:gridCol w="574765"/>
                <a:gridCol w="574765"/>
                <a:gridCol w="574765"/>
                <a:gridCol w="574765"/>
                <a:gridCol w="574765"/>
                <a:gridCol w="574765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Terminal growth \ WACC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7.10%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7.60%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8.10%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8.60%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9.10%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9.60%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10.10%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1.25%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150.6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135.9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123.5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112.7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103.4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95.1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87.8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1.50%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157.1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141.4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128.1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116.6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106.7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98.0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90.3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1.75%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164.3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147.3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133.0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120.8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110.2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101.1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93.0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2.00%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172.2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153.7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138.3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125.3</a:t>
                      </a:r>
                    </a:p>
                  </a:txBody>
                  <a:tcPr marL="36576" marR="36576" marT="9144" marB="9144" anchor="ctr">
                    <a:solidFill>
                      <a:srgbClr val="81B0C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114.0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104.3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95.8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2.25%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180.8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160.7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144.1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130.1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118.1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107.8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98.8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2.50%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190.5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168.5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150.4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135.3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122.5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111.5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102.0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2.75%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201.2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177.0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157.3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141.0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127.3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115.5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105.4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90288" y="3840480"/>
            <a:ext cx="52578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Multiple valuation and what the price implies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90288" y="4087368"/>
            <a:ext cx="52578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90288" y="4151376"/>
            <a:ext cx="5257800" cy="2075687"/>
          </a:xfrm>
          <a:prstGeom prst="rect">
            <a:avLst/>
          </a:prstGeom>
          <a:solidFill>
            <a:srgbClr val="EDEDED"/>
          </a:solidFill>
          <a:ln w="95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08575" y="4187952"/>
            <a:ext cx="5221224" cy="20025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Trading at a premium: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11.9x EV/EBITDA vs 10.5x peer median (13% premium)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Earnings multiple: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19.1x trailing P/E vs 19.7x for peers (-3%); 13.0x vs 13.4x on next-twelve-month consensus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Versus own history: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11.6x trailing EV/EBITDA is above the 3.5-year median of 9.5x (85% of weeks were cheaper)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EV/EBITDA-implied value: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NOK 104.65 at the peer median of 10.5x (range 92–111 across the 25th–75th percentile)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Market-implied WACC 8.7%</a:t>
            </a:r>
            <a:r>
              <a:rPr sz="800" b="0" i="0">
                <a:solidFill>
                  <a:srgbClr val="000000"/>
                </a:solidFill>
                <a:latin typeface="Arial"/>
              </a:rPr>
              <a:t>, in line with our 8.6%: the price discounts our cash flows at 13bp more than we do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Market-implied margin: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at our WACC the price is consistent with a 2031E EBITDA margin of 15.1% versus 15.3% in our base case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Cross-check – medium agreement: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the DCF is 18% above the peer-multiple value (NOK 105.82) and our target is 10% below the consensus of 4 analysts (NOK 139.50); review the growth, margin and WACC assumptions before relying on the 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76688" y="1627632"/>
            <a:ext cx="1685239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408" y="1714918"/>
            <a:ext cx="1593799" cy="206570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076688" y="4096512"/>
            <a:ext cx="1685239" cy="2130551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bridge_m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8" y="4191262"/>
            <a:ext cx="1593799" cy="1941051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WACC 8.6% (Yahoo Finance (5y monthly); regression vs OSEBX rejected (R2=0.03 &lt; 0.10), Blume-adjusted); terminal growth 2.0%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Cost of capital and DCF build-up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WACC 8.60% and terminal growth 2.00% give a fair value of NOK 125.26 per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30175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WACC build-up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30175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3872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1618488"/>
          <a:ext cx="3383280" cy="2793492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Risk-free rate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Beta (raw)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0.56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Beta (adjusted, used)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Equity risk premium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5.00%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Size premium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Cost of equity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Cost of debt (pre-tax)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9.01%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Tax rate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22.0%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Cost of debt (after tax)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7.02%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Weight of equity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87.3%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Weight of debt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" y="4485131"/>
            <a:ext cx="338328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Beta: Yahoo Finance (5y monthly); regression vs OSEBX rejected (R2=0.03 &lt; 0.10), Blume-adjusted.</a:t>
            </a:r>
          </a:p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Cross-check: bottom-up beta 0.94 (8 peers, unlevered median 0.82).</a:t>
            </a:r>
          </a:p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Size premium 1.50% (market cap USD 0.5bn).</a:t>
            </a:r>
          </a:p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Cost of debt: interest expense / average debt.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280160"/>
            <a:ext cx="475487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DCF build-up (NOKm)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7368" y="1527048"/>
            <a:ext cx="475488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93368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087368" y="1618488"/>
          <a:ext cx="5120634" cy="1289304"/>
        </p:xfrm>
        <a:graphic>
          <a:graphicData uri="http://schemas.openxmlformats.org/drawingml/2006/table">
            <a:tbl>
              <a:tblPr/>
              <a:tblGrid>
                <a:gridCol w="1417320"/>
                <a:gridCol w="617219"/>
                <a:gridCol w="617219"/>
                <a:gridCol w="617219"/>
                <a:gridCol w="617219"/>
                <a:gridCol w="617219"/>
                <a:gridCol w="617219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Unlevered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Share still to come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Years to discount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Discount factor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0.978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0.900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0.829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0.763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0.703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0.647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PV of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87368" y="3044951"/>
          <a:ext cx="5120640" cy="2615184"/>
        </p:xfrm>
        <a:graphic>
          <a:graphicData uri="http://schemas.openxmlformats.org/drawingml/2006/table">
            <a:tbl>
              <a:tblPr/>
              <a:tblGrid>
                <a:gridCol w="3931920"/>
                <a:gridCol w="1188720"/>
              </a:tblGrid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Bridge to value per share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NOKm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Sum of PV of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1,487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Terminal value (Gordon growth)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7,238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PV of terminal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4,685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Enterprise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6,172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net debt (30.06.2026)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(1,081)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minority interest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Equity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5,091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Shares outstanding (m)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40.6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Fair value per share (NOK, 23.09.2026)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125.26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x (1 + cost of equity 8.83%)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136.31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expected dividend per share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(10.00)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12-month target price (NOK, rounded)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126.00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482328" y="1280160"/>
            <a:ext cx="191383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What the share price implies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82328" y="1527048"/>
            <a:ext cx="1913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2328" y="1591056"/>
            <a:ext cx="2279599" cy="214884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0616" y="1627632"/>
            <a:ext cx="2243023" cy="20756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WACC: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8.73% vs our 8.60%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terminal growth: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1.83% vs our 2.00%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2031E EBITDA margin: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15.1% vs our 15.3%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0" i="0">
                <a:solidFill>
                  <a:srgbClr val="000000"/>
                </a:solidFill>
                <a:latin typeface="Arial"/>
              </a:rPr>
              <a:t>Each figure solves for the one input that makes the DCF equal today's price, holding the others at the base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3922776"/>
            <a:ext cx="191383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Key checks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82328" y="4169664"/>
            <a:ext cx="1913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487607" y="3959352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82328" y="4233672"/>
            <a:ext cx="2279599" cy="199339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00616" y="4270248"/>
            <a:ext cx="2243023" cy="192023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Terminal value</a:t>
            </a:r>
            <a:r>
              <a:rPr sz="800" b="0" i="0">
                <a:solidFill>
                  <a:srgbClr val="000000"/>
                </a:solidFill>
                <a:latin typeface="Arial"/>
              </a:rPr>
              <a:t> is 76% of enterprise value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exit multiple: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9.1x EV/EBITDA vs 11.9x today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WACC − g spread: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6.60%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Net debt / EBITDA: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1.5x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Probability-weighted value of NOK 129.60 per share versus a share price of NOK 122.20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6675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Scenario table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6675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19632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1618488"/>
          <a:ext cx="7040880" cy="1234440"/>
        </p:xfrm>
        <a:graphic>
          <a:graphicData uri="http://schemas.openxmlformats.org/drawingml/2006/table">
            <a:tbl>
              <a:tblPr/>
              <a:tblGrid>
                <a:gridCol w="141732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Probability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Growth shift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Margin shift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Terminal g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Revenue CAGR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 margin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Value (NOK)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vs price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-1.5%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9.10%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80.67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-34%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8.60%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2.00%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4.6%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125.26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Bull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+1.5%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8.10%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187.21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Probability-weighted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129.60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+6%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" y="3081528"/>
            <a:ext cx="6675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What drives each case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" y="3328416"/>
            <a:ext cx="6675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96328" y="3118104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3392424"/>
            <a:ext cx="7040880" cy="283463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" y="3438144"/>
            <a:ext cx="7004304" cy="2743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Bear (25%):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Growth 2pp lower, margin 1.5pp lower, WACC +50bp; revenue CAGR 2.6%, 2031E margin 13.8%, WACC 9.1% gives NOK 80.67 (-34%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Base (50%):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Base-case drivers; revenue CAGR 4.6%, 2031E margin 15.3%, WACC 8.6% gives NOK 125.26 (+3%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Bull (25%):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Growth 2pp higher, margin 1.5pp higher, WACC -50bp; revenue CAGR 6.6%, 2031E margin 16.8%, WACC 8.1% gives NOK 187.21 (+53%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0000"/>
                </a:solidFill>
                <a:latin typeface="Arial"/>
              </a:rPr>
              <a:t>Shifts are additive to the base case: growth applies to every forecast year, the margin shift to the whole EBITDA margin path; capex and working capital follow revenue as in the base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280160"/>
            <a:ext cx="365119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Value per share by scenario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44968" y="1527048"/>
            <a:ext cx="365119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4968" y="1591056"/>
            <a:ext cx="4016959" cy="4636007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cenarios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440532"/>
            <a:ext cx="3870655" cy="2937055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Peer group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Last-twelve-month multiples where the quarters are reported; EV on today's market cap, the latest net debt and the same lease basis as the target company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" y="1280160"/>
          <a:ext cx="11332152" cy="3328416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</a:tblGrid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Group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Mkt cap (NOKm)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 (NOKm)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Rev. growth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EV/Sales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EV/EBITDA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EV/EBIT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P/E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P/E (NTM)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Europris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retail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13,780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15,454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Clas Ohlson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retail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26,048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23,936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13.7%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Rusta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retail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11,288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10,725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19.7x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Tokmanni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retail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4,431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7,336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4.7%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8.3x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28.4x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BHG Group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retail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3,499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4,678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41.5x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Byggmax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retail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3,021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3,200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2.5%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Orkla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consumer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90,499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112,907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H&amp;M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consumer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257,383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239,422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-2.6%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11.5%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1.1x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Peer median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0.9x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10.5x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14.1x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19.7x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13.4x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Peer average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25th percentile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75th percentile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Kid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4,967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6,048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12.5%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1.5x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11.9x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15.8x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19.1x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13.0x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income basis: Kid LTM Jun 2026; peers LTM Jun 2026 (5), LTM Jul 2026 (2), LTM May 2026 (1); n.m. = not meaningful (negative or above 60x)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Valuation through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Kid trades at 11.6x trailing EV/EBITDA against a 3.5-year median of 9.5x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51631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Trailing EV/EBITDA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516315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8436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591056"/>
            <a:ext cx="5528919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hist_ev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68" y="1645920"/>
            <a:ext cx="4622919" cy="26791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3007" y="1280160"/>
            <a:ext cx="51631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Trailing P/E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33007" y="1527048"/>
            <a:ext cx="51631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591056"/>
            <a:ext cx="5528919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hist_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104" y="1645920"/>
            <a:ext cx="4604725" cy="26791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" y="4562856"/>
            <a:ext cx="1096639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Reading the bands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" y="4809744"/>
            <a:ext cx="1096639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87607" y="4599432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4873752"/>
            <a:ext cx="11332159" cy="135331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8056" y="4919472"/>
            <a:ext cx="11295583" cy="12618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EV/EBITDA: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11.6x today vs a median of 9.5x and an interquartile band of 8.4x–11.0x; 85% of weeks were cheaper. At its own median the share is worth NOK 87.05 (-29%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P/E: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21.5x today vs a median of 15.5x and an interquartile band of 13.2x–18.0x; 90% of weeks were cheaper. At its own median the share is worth NOK 87.23 (-29%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Cross-check – medium agreement between the anchors: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the DCF is 18% above the peer-multiple value (NOK 105.82) and our target is 10% below the consensus of 4 analysts (NOK 139.50); review the growth, margin and WACC assumptions before relying on the target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0000"/>
                </a:solidFill>
                <a:latin typeface="Arial"/>
              </a:rPr>
              <a:t>Each weekly close is paired with the latest fiscal year that was public at the time (75-day reporting lag), on the same lease basis as the model; net debt and the share count step once a year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Estimates vs consensus and value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Our 2026E EPS of NOK 6.83 is 16% below consensus; estimate momentum is negative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62179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Our estimates vs consensus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62179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3912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1618488"/>
          <a:ext cx="6583680" cy="1143000"/>
        </p:xfrm>
        <a:graphic>
          <a:graphicData uri="http://schemas.openxmlformats.org/drawingml/2006/table">
            <a:tbl>
              <a:tblPr/>
              <a:tblGrid>
                <a:gridCol w="1828800"/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228600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Ours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Consensus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Difference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Analysts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28600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Revenue 2026E (NOKm)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4,243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4,230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+0.3%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4,201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4,270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28600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Revenue 2027E (NOKm)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4,500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4,486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+0.3%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4,422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4,552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28600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EPS 2026E (NOK)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-16.3%</a:t>
                      </a:r>
                    </a:p>
                  </a:txBody>
                  <a:tcPr marL="36576" marR="36576" marT="9144" marB="9144" anchor="ctr">
                    <a:solidFill>
                      <a:srgbClr val="F6E1D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28600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EPS 2027E (NOK)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7.70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9.89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-22.2%</a:t>
                      </a:r>
                    </a:p>
                  </a:txBody>
                  <a:tcPr marL="36576" marR="36576" marT="9144" marB="9144" anchor="ctr">
                    <a:solidFill>
                      <a:srgbClr val="F6E1D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8.70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10.85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" y="2962656"/>
            <a:ext cx="62179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Variant view, estimate momentum and catalysts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" y="3209544"/>
            <a:ext cx="62179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739128" y="2999232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3273552"/>
            <a:ext cx="6583680" cy="295351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" y="3319272"/>
            <a:ext cx="6547104" cy="28620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19" b="1" i="0">
                <a:solidFill>
                  <a:srgbClr val="000000"/>
                </a:solidFill>
                <a:latin typeface="Arial"/>
              </a:rPr>
              <a:t>EPS 2026E NOK 6.83 vs consensus NOK 8.16 (-16%):</a:t>
            </a:r>
            <a:r>
              <a:rPr sz="819" b="0" i="0">
                <a:solidFill>
                  <a:srgbClr val="000000"/>
                </a:solidFill>
                <a:latin typeface="Arial"/>
              </a:rPr>
              <a:t> we are below the 4 analysts – outside the range of estimates; 2027E -22%; our view rests on a 13.1% 2026E EBITDA margin and a 22% tax rate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19" b="1" i="0">
                <a:solidFill>
                  <a:srgbClr val="000000"/>
                </a:solidFill>
                <a:latin typeface="Arial"/>
              </a:rPr>
              <a:t>Revenue 2026E NOK 4,243m vs consensus NOK 4,230m (+0.3%):</a:t>
            </a:r>
            <a:r>
              <a:rPr sz="819" b="0" i="0">
                <a:solidFill>
                  <a:srgbClr val="000000"/>
                </a:solidFill>
                <a:latin typeface="Arial"/>
              </a:rPr>
              <a:t> in line by construction – our growth is anchored on consensus, so the differentiated view sits in margins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19" b="1" i="0">
                <a:solidFill>
                  <a:srgbClr val="000000"/>
                </a:solidFill>
                <a:latin typeface="Arial"/>
              </a:rPr>
              <a:t>Estimate momentum negative:</a:t>
            </a:r>
            <a:r>
              <a:rPr sz="819" b="0" i="0">
                <a:solidFill>
                  <a:srgbClr val="000000"/>
                </a:solidFill>
                <a:latin typeface="Arial"/>
              </a:rPr>
              <a:t> consensus EPS over the last 90 days 2026E -6.1%, 2027E -6.0%; 2 upward and 6 downward revisions in the last 30 days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19" b="1" i="0">
                <a:solidFill>
                  <a:srgbClr val="000000"/>
                </a:solidFill>
                <a:latin typeface="Arial"/>
              </a:rPr>
              <a:t>05.11.2026 – Quarterly results</a:t>
            </a:r>
            <a:r>
              <a:rPr sz="819" b="0" i="0">
                <a:solidFill>
                  <a:srgbClr val="000000"/>
                </a:solidFill>
                <a:latin typeface="Arial"/>
              </a:rPr>
              <a:t>: consensus revenue 984, EPS 1.76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1280160"/>
            <a:ext cx="410839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What moves the value – one driver at a time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87768" y="1527048"/>
            <a:ext cx="410839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87768" y="1591056"/>
            <a:ext cx="4474159" cy="4636007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19" y="2219881"/>
            <a:ext cx="4327855" cy="3360068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consensus: Yahoo Finance (mean of analyst estimates), revisions over 90 days; value drivers move one input at a time with everything else at the base case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Multiples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Growth and margin explain 61% of the dispersion in peer EV/EBITDA; fundamentals justify 12.0x for Kid against 11.9x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44805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EV/EBITDA against expected revenue growth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448055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0176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591056"/>
            <a:ext cx="4846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ult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88" y="1645920"/>
            <a:ext cx="3828478" cy="24963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" y="4361688"/>
            <a:ext cx="44805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Reading the multiples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4608575"/>
            <a:ext cx="448055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01768" y="4398264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4672583"/>
            <a:ext cx="4846320" cy="155448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056" y="4718303"/>
            <a:ext cx="4809744" cy="1463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780" b="1" i="0">
                <a:solidFill>
                  <a:srgbClr val="000000"/>
                </a:solidFill>
                <a:latin typeface="Arial"/>
              </a:rPr>
              <a:t>On next-twelve-month consensus</a:t>
            </a:r>
            <a:r>
              <a:rPr sz="780" b="0" i="0">
                <a:solidFill>
                  <a:srgbClr val="000000"/>
                </a:solidFill>
                <a:latin typeface="Arial"/>
              </a:rPr>
              <a:t> Kid trades at 13.0x P/E (peers 13.4x), 1.4x EV/Sales (peers 0.9x), 11.0x EV/EBITDA at the LTM margin (peers 9.8x); PEG 0.61 vs 1.12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780" b="1" i="0">
                <a:solidFill>
                  <a:srgbClr val="000000"/>
                </a:solidFill>
                <a:latin typeface="Arial"/>
              </a:rPr>
              <a:t>Growth and margin explain 61% of the dispersion in peer EV/EBITDA</a:t>
            </a:r>
            <a:r>
              <a:rPr sz="780" b="0" i="0">
                <a:solidFill>
                  <a:srgbClr val="000000"/>
                </a:solidFill>
                <a:latin typeface="Arial"/>
              </a:rPr>
              <a:t> (8 peers): fundamentals justify 12.0x against the 10.5x median (+15%); the actual 11.9x leaves -1% unexplained. Evidence strong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780" b="1" i="0">
                <a:solidFill>
                  <a:srgbClr val="000000"/>
                </a:solidFill>
                <a:latin typeface="Arial"/>
              </a:rPr>
              <a:t>Regression-implied value NOK 124.12</a:t>
            </a:r>
            <a:r>
              <a:rPr sz="780" b="0" i="0">
                <a:solidFill>
                  <a:srgbClr val="000000"/>
                </a:solidFill>
                <a:latin typeface="Arial"/>
              </a:rPr>
              <a:t> per share (NOK 104–144 within one residual standard deviation)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780" b="1" i="0">
                <a:solidFill>
                  <a:srgbClr val="000000"/>
                </a:solidFill>
                <a:latin typeface="Arial"/>
              </a:rPr>
              <a:t>Cash and payout:</a:t>
            </a:r>
            <a:r>
              <a:rPr sz="780" b="0" i="0">
                <a:solidFill>
                  <a:srgbClr val="000000"/>
                </a:solidFill>
                <a:latin typeface="Arial"/>
              </a:rPr>
              <a:t> -1.7% levered FCF yield vs 4.2% for peers; 8.2% dividend yield vs 4.2%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780" b="1" i="0">
                <a:solidFill>
                  <a:srgbClr val="000000"/>
                </a:solidFill>
                <a:latin typeface="Arial"/>
              </a:rPr>
              <a:t>Consensus EPS growth FY1:</a:t>
            </a:r>
            <a:r>
              <a:rPr sz="780" b="0" i="0">
                <a:solidFill>
                  <a:srgbClr val="000000"/>
                </a:solidFill>
                <a:latin typeface="Arial"/>
              </a:rPr>
              <a:t> +21% for Kid vs +13% for the peer median – the growth the forward multiple is buying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280160"/>
            <a:ext cx="58457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Forward multiples and quality – consensus, calendarised to the next twelve months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7" y="1527048"/>
            <a:ext cx="58457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550407" y="1618488"/>
          <a:ext cx="6211512" cy="2615184"/>
        </p:xfrm>
        <a:graphic>
          <a:graphicData uri="http://schemas.openxmlformats.org/drawingml/2006/table">
            <a:tbl>
              <a:tblPr/>
              <a:tblGrid>
                <a:gridCol w="1325880"/>
                <a:gridCol w="512406"/>
                <a:gridCol w="786384"/>
                <a:gridCol w="512406"/>
                <a:gridCol w="512406"/>
                <a:gridCol w="512406"/>
                <a:gridCol w="512406"/>
                <a:gridCol w="512406"/>
                <a:gridCol w="512406"/>
                <a:gridCol w="512406"/>
              </a:tblGrid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EV/Sales NTM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EV/EBITDA NTM*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P/E FY0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P/E FY1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P/E NTM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EPS growth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PEG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FCF yield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Div. yield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Europris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15.4x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Clas Ohlson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1.7x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19.0x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17.7x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18.4x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+7%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2.53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Rusta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17.3x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+16%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Tokmanni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7.8x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11.8x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+32%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4.8%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BHG Group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+33%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Byggmax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11.7x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10.8x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1.25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Orkla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3.60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H&amp;M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1.1x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21.0x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20.0x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20.2x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+5%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3.88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Peer median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0.9x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9.8x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14.8x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13.0x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13.4x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+13%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1.12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Kid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1.4x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11.0x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15.0x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12.4x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13.0x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+21%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0.61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-1.7%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550407" y="4288536"/>
            <a:ext cx="6211519" cy="19385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680" b="0" i="1">
                <a:solidFill>
                  <a:srgbClr val="4A4A4A"/>
                </a:solidFill>
                <a:latin typeface="Arial"/>
              </a:rPr>
              <a:t>* NTM revenue at the LTM EBITDA margin: Yahoo Finance carries no EBITDA consensus. FY0 = fiscal year in progress; NTM = 27% of FY to 2026-12 + the rest of the following year. EV in each company's reporting currency (market cap converted from the listing currency) with the latest net debt; FCF yield is levered, after lease payments; n.m. = negative or above the cap.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consensus: Yahoo Finance mean estimates; regression: OLS with an intercept over the peers shown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